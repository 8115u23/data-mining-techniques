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7" r:id="rId2"/>
    <p:sldId id="260" r:id="rId3"/>
    <p:sldId id="259" r:id="rId4"/>
    <p:sldId id="262" r:id="rId5"/>
    <p:sldId id="269" r:id="rId6"/>
    <p:sldId id="268" r:id="rId7"/>
    <p:sldId id="270" r:id="rId8"/>
    <p:sldId id="271" r:id="rId9"/>
    <p:sldId id="272" r:id="rId10"/>
    <p:sldId id="273" r:id="rId11"/>
    <p:sldId id="263" r:id="rId12"/>
    <p:sldId id="264" r:id="rId13"/>
    <p:sldId id="274" r:id="rId14"/>
    <p:sldId id="280" r:id="rId15"/>
    <p:sldId id="275" r:id="rId16"/>
    <p:sldId id="276" r:id="rId17"/>
    <p:sldId id="277" r:id="rId18"/>
    <p:sldId id="278" r:id="rId19"/>
    <p:sldId id="279" r:id="rId20"/>
    <p:sldId id="265" r:id="rId21"/>
    <p:sldId id="2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0089" autoAdjust="0"/>
    <p:restoredTop sz="94660"/>
  </p:normalViewPr>
  <p:slideViewPr>
    <p:cSldViewPr snapToGrid="0">
      <p:cViewPr>
        <p:scale>
          <a:sx n="66" d="100"/>
          <a:sy n="66" d="100"/>
        </p:scale>
        <p:origin x="-856" y="-3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B32F0-08A5-4EF0-8DE3-59101D6EE244}" type="datetimeFigureOut">
              <a:rPr lang="en-IN" smtClean="0"/>
              <a:pPr/>
              <a:t>14-12-2025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7251E-586D-4348-8DAC-E62978CE743A}" type="slidenum">
              <a:rPr lang="en-IN" smtClean="0"/>
              <a:pPr/>
              <a:t>‹#›</a:t>
            </a:fld>
            <a:endParaRPr lang="en-IN"/>
          </a:p>
        </p:txBody>
      </p:sp>
    </p:spTree>
    <p:extLst>
      <p:ext uri="{BB962C8B-B14F-4D97-AF65-F5344CB8AC3E}">
        <p14:creationId xmlns="" xmlns:p14="http://schemas.microsoft.com/office/powerpoint/2010/main" val="3620172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 xmlns:a16="http://schemas.microsoft.com/office/drawing/2014/main" id="{DE70458B-F185-48DB-AD85-3796F7DB4F8C}"/>
              </a:ext>
            </a:extLst>
          </p:cNvPr>
          <p:cNvSpPr>
            <a:spLocks noGrp="1" noChangeArrowheads="1"/>
          </p:cNvSpPr>
          <p:nvPr>
            <p:ph type="sldNum" sz="quarter"/>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43FFAAB-55BD-4260-A4E4-7D8FCB28E61B}" type="slidenum">
              <a:rPr lang="en-US" altLang="en-US">
                <a:solidFill>
                  <a:srgbClr val="000000"/>
                </a:solidFill>
                <a:latin typeface="Times New Roman" panose="02020603050405020304" pitchFamily="18" charset="0"/>
                <a:cs typeface="DejaVu Sans" charset="0"/>
              </a:rPr>
              <a:pPr/>
              <a:t>1</a:t>
            </a:fld>
            <a:endParaRPr lang="en-US" altLang="en-US">
              <a:solidFill>
                <a:srgbClr val="000000"/>
              </a:solidFill>
              <a:latin typeface="Times New Roman" panose="02020603050405020304" pitchFamily="18" charset="0"/>
              <a:cs typeface="DejaVu Sans" charset="0"/>
            </a:endParaRPr>
          </a:p>
        </p:txBody>
      </p:sp>
      <p:sp>
        <p:nvSpPr>
          <p:cNvPr id="6147" name="Rectangle 1">
            <a:extLst>
              <a:ext uri="{FF2B5EF4-FFF2-40B4-BE49-F238E27FC236}">
                <a16:creationId xmlns="" xmlns:a16="http://schemas.microsoft.com/office/drawing/2014/main" id="{468E4D85-E32A-485E-A661-F2143B7E6251}"/>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6148" name="Rectangle 2">
            <a:extLst>
              <a:ext uri="{FF2B5EF4-FFF2-40B4-BE49-F238E27FC236}">
                <a16:creationId xmlns="" xmlns:a16="http://schemas.microsoft.com/office/drawing/2014/main" id="{DF6CCD87-E991-4187-8B98-51E783BF2FA2}"/>
              </a:ext>
            </a:extLst>
          </p:cNvPr>
          <p:cNvSpPr>
            <a:spLocks noGrp="1" noChangeArrowheads="1"/>
          </p:cNvSpPr>
          <p:nvPr>
            <p:ph type="body" idx="1"/>
          </p:nvPr>
        </p:nvSpPr>
        <p:spPr>
          <a:xfrm>
            <a:off x="777875" y="4776788"/>
            <a:ext cx="6218238" cy="452596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 xmlns:p14="http://schemas.microsoft.com/office/powerpoint/2010/main" val="1972870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4" name="Rectangle 6">
            <a:extLst>
              <a:ext uri="{FF2B5EF4-FFF2-40B4-BE49-F238E27FC236}">
                <a16:creationId xmlns="" xmlns:a16="http://schemas.microsoft.com/office/drawing/2014/main" id="{323DF40D-1800-48F2-89B0-8451D73D046C}"/>
              </a:ext>
            </a:extLst>
          </p:cNvPr>
          <p:cNvSpPr>
            <a:spLocks noGrp="1" noChangeArrowheads="1"/>
          </p:cNvSpPr>
          <p:nvPr>
            <p:ph type="sldNum" sz="quarter"/>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a:lstStyle>
            <a:lvl1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1pPr>
            <a:lvl2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2pPr>
            <a:lvl3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3pPr>
            <a:lvl4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4pPr>
            <a:lvl5pPr>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5pPr>
            <a:lvl6pPr marL="25146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6pPr>
            <a:lvl7pPr marL="29718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7pPr>
            <a:lvl8pPr marL="34290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8pPr>
            <a:lvl9pPr marL="3886200" indent="-228600" defTabSz="457200" eaLnBrk="0" fontAlgn="base" hangingPunct="0">
              <a:spcBef>
                <a:spcPct val="0"/>
              </a:spcBef>
              <a:spcAft>
                <a:spcPct val="0"/>
              </a:spcAft>
              <a:tabLst>
                <a:tab pos="457200" algn="l"/>
                <a:tab pos="914400" algn="l"/>
                <a:tab pos="1371600" algn="l"/>
                <a:tab pos="1828800" algn="l"/>
                <a:tab pos="2286000" algn="l"/>
                <a:tab pos="2743200" algn="l"/>
                <a:tab pos="3200400" algn="l"/>
              </a:tabLst>
              <a:defRPr>
                <a:solidFill>
                  <a:schemeClr val="tx1"/>
                </a:solidFill>
                <a:latin typeface="Arial" panose="020B0604020202020204" pitchFamily="34" charset="0"/>
                <a:cs typeface="WenQuanYi Micro Hei" charset="0"/>
              </a:defRPr>
            </a:lvl9pPr>
          </a:lstStyle>
          <a:p>
            <a:fld id="{90E773DE-2121-4534-891E-4D269B6198E4}" type="slidenum">
              <a:rPr lang="en-US" altLang="en-US">
                <a:solidFill>
                  <a:srgbClr val="000000"/>
                </a:solidFill>
                <a:latin typeface="Times New Roman" panose="02020603050405020304" pitchFamily="18" charset="0"/>
                <a:cs typeface="DejaVu Sans" charset="0"/>
              </a:rPr>
              <a:pPr/>
              <a:t>3</a:t>
            </a:fld>
            <a:endParaRPr lang="en-US" altLang="en-US">
              <a:solidFill>
                <a:srgbClr val="000000"/>
              </a:solidFill>
              <a:latin typeface="Times New Roman" panose="02020603050405020304" pitchFamily="18" charset="0"/>
              <a:cs typeface="DejaVu Sans" charset="0"/>
            </a:endParaRPr>
          </a:p>
        </p:txBody>
      </p:sp>
      <p:sp>
        <p:nvSpPr>
          <p:cNvPr id="8195" name="Rectangle 1">
            <a:extLst>
              <a:ext uri="{FF2B5EF4-FFF2-40B4-BE49-F238E27FC236}">
                <a16:creationId xmlns="" xmlns:a16="http://schemas.microsoft.com/office/drawing/2014/main" id="{8CB8B7FE-98D4-4BC1-AF30-2F4B2E5766CC}"/>
              </a:ext>
            </a:extLst>
          </p:cNvPr>
          <p:cNvSpPr>
            <a:spLocks noGrp="1" noRot="1" noChangeAspect="1" noChangeArrowheads="1" noTextEdit="1"/>
          </p:cNvSpPr>
          <p:nvPr>
            <p:ph type="sldImg"/>
          </p:nvPr>
        </p:nvSpPr>
        <p:spPr>
          <a:xfrm>
            <a:off x="533400" y="763588"/>
            <a:ext cx="6704013" cy="3771900"/>
          </a:xfrm>
          <a:solidFill>
            <a:srgbClr val="FFFFFF"/>
          </a:solidFill>
          <a:ln>
            <a:solidFill>
              <a:srgbClr val="000000"/>
            </a:solidFill>
            <a:miter lim="800000"/>
            <a:headEnd/>
            <a:tailEnd/>
          </a:ln>
        </p:spPr>
      </p:sp>
      <p:sp>
        <p:nvSpPr>
          <p:cNvPr id="8196" name="Rectangle 2">
            <a:extLst>
              <a:ext uri="{FF2B5EF4-FFF2-40B4-BE49-F238E27FC236}">
                <a16:creationId xmlns="" xmlns:a16="http://schemas.microsoft.com/office/drawing/2014/main" id="{B0E2CBEC-FF7E-446A-8770-6539CBEDA36D}"/>
              </a:ext>
            </a:extLst>
          </p:cNvPr>
          <p:cNvSpPr>
            <a:spLocks noGrp="1" noChangeArrowheads="1"/>
          </p:cNvSpPr>
          <p:nvPr>
            <p:ph type="body" idx="1"/>
          </p:nvPr>
        </p:nvSpPr>
        <p:spPr>
          <a:xfrm>
            <a:off x="777875" y="4776788"/>
            <a:ext cx="6218238" cy="452596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 xmlns:p14="http://schemas.microsoft.com/office/powerpoint/2010/main" val="1946872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330C928-9714-4F09-AE9C-B528894147EA}" type="datetime1">
              <a:rPr lang="en-IN" smtClean="0"/>
              <a:pPr/>
              <a:t>14-12-2025</a:t>
            </a:fld>
            <a:endParaRPr lang="en-IN"/>
          </a:p>
        </p:txBody>
      </p:sp>
      <p:sp>
        <p:nvSpPr>
          <p:cNvPr id="5" name="Footer Placeholder 4"/>
          <p:cNvSpPr>
            <a:spLocks noGrp="1"/>
          </p:cNvSpPr>
          <p:nvPr>
            <p:ph type="ftr" sz="quarter" idx="11"/>
          </p:nvPr>
        </p:nvSpPr>
        <p:spPr/>
        <p:txBody>
          <a:bodyPr/>
          <a:lstStyle/>
          <a:p>
            <a:r>
              <a:rPr lang="en-IN" smtClean="0"/>
              <a:t>ITC1365 - EXPLORATORY DATA ANALYTICS</a:t>
            </a:r>
            <a:endParaRPr lang="en-IN"/>
          </a:p>
        </p:txBody>
      </p:sp>
      <p:sp>
        <p:nvSpPr>
          <p:cNvPr id="6" name="Slide Number Placeholder 5"/>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984522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E0B0756-FC39-40F2-AE6B-E47CC92E69F0}" type="datetime1">
              <a:rPr lang="en-IN" smtClean="0"/>
              <a:pPr/>
              <a:t>14-12-2025</a:t>
            </a:fld>
            <a:endParaRPr lang="en-IN"/>
          </a:p>
        </p:txBody>
      </p:sp>
      <p:sp>
        <p:nvSpPr>
          <p:cNvPr id="5" name="Footer Placeholder 4"/>
          <p:cNvSpPr>
            <a:spLocks noGrp="1"/>
          </p:cNvSpPr>
          <p:nvPr>
            <p:ph type="ftr" sz="quarter" idx="11"/>
          </p:nvPr>
        </p:nvSpPr>
        <p:spPr/>
        <p:txBody>
          <a:bodyPr/>
          <a:lstStyle/>
          <a:p>
            <a:r>
              <a:rPr lang="en-IN" smtClean="0"/>
              <a:t>ITC1365 - EXPLORATORY DATA ANALYTICS</a:t>
            </a:r>
            <a:endParaRPr lang="en-IN"/>
          </a:p>
        </p:txBody>
      </p:sp>
      <p:sp>
        <p:nvSpPr>
          <p:cNvPr id="6" name="Slide Number Placeholder 5"/>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314777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7F59EE-6E44-4EC5-B743-56364C358950}" type="datetime1">
              <a:rPr lang="en-IN" smtClean="0"/>
              <a:pPr/>
              <a:t>14-12-2025</a:t>
            </a:fld>
            <a:endParaRPr lang="en-IN"/>
          </a:p>
        </p:txBody>
      </p:sp>
      <p:sp>
        <p:nvSpPr>
          <p:cNvPr id="5" name="Footer Placeholder 4"/>
          <p:cNvSpPr>
            <a:spLocks noGrp="1"/>
          </p:cNvSpPr>
          <p:nvPr>
            <p:ph type="ftr" sz="quarter" idx="11"/>
          </p:nvPr>
        </p:nvSpPr>
        <p:spPr/>
        <p:txBody>
          <a:bodyPr/>
          <a:lstStyle/>
          <a:p>
            <a:r>
              <a:rPr lang="en-IN" smtClean="0"/>
              <a:t>ITC1365 - EXPLORATORY DATA ANALYTICS</a:t>
            </a:r>
            <a:endParaRPr lang="en-IN"/>
          </a:p>
        </p:txBody>
      </p:sp>
      <p:sp>
        <p:nvSpPr>
          <p:cNvPr id="6" name="Slide Number Placeholder 5"/>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365712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91087B0-1696-4B8E-8499-63FE83517830}" type="datetime1">
              <a:rPr lang="en-IN" smtClean="0"/>
              <a:pPr/>
              <a:t>14-12-2025</a:t>
            </a:fld>
            <a:endParaRPr lang="en-IN"/>
          </a:p>
        </p:txBody>
      </p:sp>
      <p:sp>
        <p:nvSpPr>
          <p:cNvPr id="6" name="Footer Placeholder 5"/>
          <p:cNvSpPr>
            <a:spLocks noGrp="1"/>
          </p:cNvSpPr>
          <p:nvPr>
            <p:ph type="ftr" sz="quarter" idx="11"/>
          </p:nvPr>
        </p:nvSpPr>
        <p:spPr/>
        <p:txBody>
          <a:bodyPr/>
          <a:lstStyle/>
          <a:p>
            <a:r>
              <a:rPr lang="en-IN" smtClean="0"/>
              <a:t>ITC1365 - EXPLORATORY DATA ANALYTICS</a:t>
            </a:r>
            <a:endParaRPr lang="en-IN"/>
          </a:p>
        </p:txBody>
      </p:sp>
      <p:sp>
        <p:nvSpPr>
          <p:cNvPr id="7" name="Slide Number Placeholder 6"/>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390893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B9A7739-47D7-4369-9627-C747691F05D4}" type="datetime1">
              <a:rPr lang="en-IN" smtClean="0"/>
              <a:pPr/>
              <a:t>14-12-2025</a:t>
            </a:fld>
            <a:endParaRPr lang="en-IN"/>
          </a:p>
        </p:txBody>
      </p:sp>
      <p:sp>
        <p:nvSpPr>
          <p:cNvPr id="8" name="Footer Placeholder 7"/>
          <p:cNvSpPr>
            <a:spLocks noGrp="1"/>
          </p:cNvSpPr>
          <p:nvPr>
            <p:ph type="ftr" sz="quarter" idx="11"/>
          </p:nvPr>
        </p:nvSpPr>
        <p:spPr/>
        <p:txBody>
          <a:bodyPr/>
          <a:lstStyle/>
          <a:p>
            <a:r>
              <a:rPr lang="en-IN" smtClean="0"/>
              <a:t>ITC1365 - EXPLORATORY DATA ANALYTICS</a:t>
            </a:r>
            <a:endParaRPr lang="en-IN"/>
          </a:p>
        </p:txBody>
      </p:sp>
      <p:sp>
        <p:nvSpPr>
          <p:cNvPr id="9" name="Slide Number Placeholder 8"/>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2073989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AB503A5-CAFA-4CB3-9177-7123DA3DB155}" type="datetime1">
              <a:rPr lang="en-IN" smtClean="0"/>
              <a:pPr/>
              <a:t>14-12-2025</a:t>
            </a:fld>
            <a:endParaRPr lang="en-IN"/>
          </a:p>
        </p:txBody>
      </p:sp>
      <p:sp>
        <p:nvSpPr>
          <p:cNvPr id="4" name="Footer Placeholder 3"/>
          <p:cNvSpPr>
            <a:spLocks noGrp="1"/>
          </p:cNvSpPr>
          <p:nvPr>
            <p:ph type="ftr" sz="quarter" idx="11"/>
          </p:nvPr>
        </p:nvSpPr>
        <p:spPr/>
        <p:txBody>
          <a:bodyPr/>
          <a:lstStyle/>
          <a:p>
            <a:r>
              <a:rPr lang="en-IN" smtClean="0"/>
              <a:t>ITC1365 - EXPLORATORY DATA ANALYTICS</a:t>
            </a:r>
            <a:endParaRPr lang="en-IN"/>
          </a:p>
        </p:txBody>
      </p:sp>
      <p:sp>
        <p:nvSpPr>
          <p:cNvPr id="5" name="Slide Number Placeholder 4"/>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1211015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58D78D-48D1-449F-874F-1F96C64D321C}" type="datetime1">
              <a:rPr lang="en-IN" smtClean="0"/>
              <a:pPr/>
              <a:t>14-12-2025</a:t>
            </a:fld>
            <a:endParaRPr lang="en-IN"/>
          </a:p>
        </p:txBody>
      </p:sp>
      <p:sp>
        <p:nvSpPr>
          <p:cNvPr id="3" name="Footer Placeholder 2"/>
          <p:cNvSpPr>
            <a:spLocks noGrp="1"/>
          </p:cNvSpPr>
          <p:nvPr>
            <p:ph type="ftr" sz="quarter" idx="11"/>
          </p:nvPr>
        </p:nvSpPr>
        <p:spPr/>
        <p:txBody>
          <a:bodyPr/>
          <a:lstStyle/>
          <a:p>
            <a:r>
              <a:rPr lang="en-IN" smtClean="0"/>
              <a:t>ITC1365 - EXPLORATORY DATA ANALYTICS</a:t>
            </a:r>
            <a:endParaRPr lang="en-IN"/>
          </a:p>
        </p:txBody>
      </p:sp>
      <p:sp>
        <p:nvSpPr>
          <p:cNvPr id="4" name="Slide Number Placeholder 3"/>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1541948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982F5FE-CF8B-488A-9FBF-9A9FA55312D6}" type="datetime1">
              <a:rPr lang="en-IN" smtClean="0"/>
              <a:pPr/>
              <a:t>14-12-2025</a:t>
            </a:fld>
            <a:endParaRPr lang="en-IN"/>
          </a:p>
        </p:txBody>
      </p:sp>
      <p:sp>
        <p:nvSpPr>
          <p:cNvPr id="6" name="Footer Placeholder 5"/>
          <p:cNvSpPr>
            <a:spLocks noGrp="1"/>
          </p:cNvSpPr>
          <p:nvPr>
            <p:ph type="ftr" sz="quarter" idx="11"/>
          </p:nvPr>
        </p:nvSpPr>
        <p:spPr/>
        <p:txBody>
          <a:bodyPr/>
          <a:lstStyle/>
          <a:p>
            <a:r>
              <a:rPr lang="en-IN" smtClean="0"/>
              <a:t>ITC1365 - EXPLORATORY DATA ANALYTICS</a:t>
            </a:r>
            <a:endParaRPr lang="en-IN"/>
          </a:p>
        </p:txBody>
      </p:sp>
      <p:sp>
        <p:nvSpPr>
          <p:cNvPr id="7" name="Slide Number Placeholder 6"/>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255394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D101B29-5AEB-4E68-BDA0-23754AE9280E}" type="datetime1">
              <a:rPr lang="en-IN" smtClean="0"/>
              <a:pPr/>
              <a:t>14-12-2025</a:t>
            </a:fld>
            <a:endParaRPr lang="en-IN"/>
          </a:p>
        </p:txBody>
      </p:sp>
      <p:sp>
        <p:nvSpPr>
          <p:cNvPr id="6" name="Footer Placeholder 5"/>
          <p:cNvSpPr>
            <a:spLocks noGrp="1"/>
          </p:cNvSpPr>
          <p:nvPr>
            <p:ph type="ftr" sz="quarter" idx="11"/>
          </p:nvPr>
        </p:nvSpPr>
        <p:spPr/>
        <p:txBody>
          <a:bodyPr/>
          <a:lstStyle/>
          <a:p>
            <a:r>
              <a:rPr lang="en-IN" smtClean="0"/>
              <a:t>ITC1365 - EXPLORATORY DATA ANALYTICS</a:t>
            </a:r>
            <a:endParaRPr lang="en-IN"/>
          </a:p>
        </p:txBody>
      </p:sp>
      <p:sp>
        <p:nvSpPr>
          <p:cNvPr id="7" name="Slide Number Placeholder 6"/>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3809302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0BC5AA-C98B-4767-9F86-543C86342EB3}" type="datetime1">
              <a:rPr lang="en-IN" smtClean="0"/>
              <a:pPr/>
              <a:t>14-12-2025</a:t>
            </a:fld>
            <a:endParaRPr lang="en-IN"/>
          </a:p>
        </p:txBody>
      </p:sp>
      <p:sp>
        <p:nvSpPr>
          <p:cNvPr id="5" name="Footer Placeholder 4"/>
          <p:cNvSpPr>
            <a:spLocks noGrp="1"/>
          </p:cNvSpPr>
          <p:nvPr>
            <p:ph type="ftr" sz="quarter" idx="11"/>
          </p:nvPr>
        </p:nvSpPr>
        <p:spPr/>
        <p:txBody>
          <a:bodyPr/>
          <a:lstStyle/>
          <a:p>
            <a:r>
              <a:rPr lang="en-IN" smtClean="0"/>
              <a:t>ITC1365 - EXPLORATORY DATA ANALYTICS</a:t>
            </a:r>
            <a:endParaRPr lang="en-IN"/>
          </a:p>
        </p:txBody>
      </p:sp>
      <p:sp>
        <p:nvSpPr>
          <p:cNvPr id="6" name="Slide Number Placeholder 5"/>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2913751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F70F431-F1A2-484B-9821-BE68B2552BFD}" type="datetime1">
              <a:rPr lang="en-IN" smtClean="0"/>
              <a:pPr/>
              <a:t>14-12-2025</a:t>
            </a:fld>
            <a:endParaRPr lang="en-IN"/>
          </a:p>
        </p:txBody>
      </p:sp>
      <p:sp>
        <p:nvSpPr>
          <p:cNvPr id="5" name="Footer Placeholder 4"/>
          <p:cNvSpPr>
            <a:spLocks noGrp="1"/>
          </p:cNvSpPr>
          <p:nvPr>
            <p:ph type="ftr" sz="quarter" idx="11"/>
          </p:nvPr>
        </p:nvSpPr>
        <p:spPr/>
        <p:txBody>
          <a:bodyPr/>
          <a:lstStyle/>
          <a:p>
            <a:r>
              <a:rPr lang="en-IN" smtClean="0"/>
              <a:t>ITC1365 - EXPLORATORY DATA ANALYTICS</a:t>
            </a:r>
            <a:endParaRPr lang="en-IN"/>
          </a:p>
        </p:txBody>
      </p:sp>
      <p:sp>
        <p:nvSpPr>
          <p:cNvPr id="6" name="Slide Number Placeholder 5"/>
          <p:cNvSpPr>
            <a:spLocks noGrp="1"/>
          </p:cNvSpPr>
          <p:nvPr>
            <p:ph type="sldNum" sz="quarter" idx="12"/>
          </p:nvPr>
        </p:nvSpPr>
        <p:spPr/>
        <p:txBody>
          <a:body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4037586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14401" y="2130425"/>
            <a:ext cx="10361084" cy="1468438"/>
          </a:xfrm>
        </p:spPr>
        <p:txBody>
          <a:bodyPr/>
          <a:lstStyle/>
          <a:p>
            <a:r>
              <a:rPr lang="en-US"/>
              <a:t>Click to edit Master title style</a:t>
            </a:r>
          </a:p>
        </p:txBody>
      </p:sp>
      <p:sp>
        <p:nvSpPr>
          <p:cNvPr id="3" name="Rectangle 2">
            <a:extLst>
              <a:ext uri="{FF2B5EF4-FFF2-40B4-BE49-F238E27FC236}">
                <a16:creationId xmlns="" xmlns:a16="http://schemas.microsoft.com/office/drawing/2014/main" id="{5EFD2757-5863-4F7E-A9A8-D6E218C07F09}"/>
              </a:ext>
            </a:extLst>
          </p:cNvPr>
          <p:cNvSpPr>
            <a:spLocks noGrp="1" noChangeArrowheads="1"/>
          </p:cNvSpPr>
          <p:nvPr>
            <p:ph type="dt" idx="10"/>
          </p:nvPr>
        </p:nvSpPr>
        <p:spPr>
          <a:ln/>
        </p:spPr>
        <p:txBody>
          <a:bodyPr/>
          <a:lstStyle>
            <a:lvl1pPr>
              <a:defRPr/>
            </a:lvl1pPr>
          </a:lstStyle>
          <a:p>
            <a:pPr>
              <a:defRPr/>
            </a:pPr>
            <a:fld id="{010118B2-72C7-48F4-B6C5-9B169F0411AF}" type="datetime1">
              <a:rPr lang="en-IN" smtClean="0"/>
              <a:pPr>
                <a:defRPr/>
              </a:pPr>
              <a:t>14-12-2025</a:t>
            </a:fld>
            <a:endParaRPr lang="en-US"/>
          </a:p>
        </p:txBody>
      </p:sp>
      <p:sp>
        <p:nvSpPr>
          <p:cNvPr id="4" name="Rectangle 4">
            <a:extLst>
              <a:ext uri="{FF2B5EF4-FFF2-40B4-BE49-F238E27FC236}">
                <a16:creationId xmlns="" xmlns:a16="http://schemas.microsoft.com/office/drawing/2014/main" id="{1577BD60-6440-49BB-95F9-FA915E90D2C1}"/>
              </a:ext>
            </a:extLst>
          </p:cNvPr>
          <p:cNvSpPr>
            <a:spLocks noGrp="1" noChangeArrowheads="1"/>
          </p:cNvSpPr>
          <p:nvPr>
            <p:ph type="sldNum" idx="11"/>
          </p:nvPr>
        </p:nvSpPr>
        <p:spPr>
          <a:ln/>
        </p:spPr>
        <p:txBody>
          <a:bodyPr/>
          <a:lstStyle>
            <a:lvl1pPr>
              <a:defRPr/>
            </a:lvl1pPr>
          </a:lstStyle>
          <a:p>
            <a:pPr>
              <a:defRPr/>
            </a:pPr>
            <a:fld id="{B0B1F0C1-FE4D-47C4-BFD4-577E77A4BE46}" type="slidenum">
              <a:rPr lang="en-US" altLang="en-US"/>
              <a:pPr>
                <a:defRPr/>
              </a:pPr>
              <a:t>‹#›</a:t>
            </a:fld>
            <a:endParaRPr lang="en-US" altLang="en-US"/>
          </a:p>
        </p:txBody>
      </p:sp>
    </p:spTree>
    <p:extLst>
      <p:ext uri="{BB962C8B-B14F-4D97-AF65-F5344CB8AC3E}">
        <p14:creationId xmlns="" xmlns:p14="http://schemas.microsoft.com/office/powerpoint/2010/main" val="1554951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AA038-B803-4A22-B9BC-E3AF3BDCED81}" type="datetime1">
              <a:rPr lang="en-IN" smtClean="0"/>
              <a:pPr/>
              <a:t>14-12-2025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ITC1365 - EXPLORATORY DATA ANALYTICS</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D2EA7-D846-4DD1-862F-6C9076468EAA}" type="slidenum">
              <a:rPr lang="en-IN" smtClean="0"/>
              <a:pPr/>
              <a:t>‹#›</a:t>
            </a:fld>
            <a:endParaRPr lang="en-IN"/>
          </a:p>
        </p:txBody>
      </p:sp>
    </p:spTree>
    <p:extLst>
      <p:ext uri="{BB962C8B-B14F-4D97-AF65-F5344CB8AC3E}">
        <p14:creationId xmlns="" xmlns:p14="http://schemas.microsoft.com/office/powerpoint/2010/main" val="3364143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kaggle.com/datase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973"/>
        <p:cNvGrpSpPr/>
        <p:nvPr/>
      </p:nvGrpSpPr>
      <p:grpSpPr>
        <a:xfrm>
          <a:off x="0" y="0"/>
          <a:ext cx="0" cy="0"/>
          <a:chOff x="0" y="0"/>
          <a:chExt cx="0" cy="0"/>
        </a:xfrm>
      </p:grpSpPr>
      <p:sp>
        <p:nvSpPr>
          <p:cNvPr id="36974" name="Google Shape;36974;p1"/>
          <p:cNvSpPr/>
          <p:nvPr/>
        </p:nvSpPr>
        <p:spPr>
          <a:xfrm>
            <a:off x="240550" y="274650"/>
            <a:ext cx="11696700" cy="6300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36975" name="Google Shape;36975;p1"/>
          <p:cNvSpPr txBox="1">
            <a:spLocks noGrp="1"/>
          </p:cNvSpPr>
          <p:nvPr>
            <p:ph type="subTitle" idx="4294967295"/>
          </p:nvPr>
        </p:nvSpPr>
        <p:spPr>
          <a:xfrm>
            <a:off x="2770132" y="2041371"/>
            <a:ext cx="7822200" cy="3815700"/>
          </a:xfrm>
          <a:prstGeom prst="rect">
            <a:avLst/>
          </a:prstGeom>
          <a:solidFill>
            <a:srgbClr val="FFFFFF"/>
          </a:solid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C00000"/>
              </a:buClr>
              <a:buSzPts val="2000"/>
              <a:buFont typeface="Arial"/>
              <a:buNone/>
            </a:pPr>
            <a:r>
              <a:rPr lang="en-US" sz="2000" b="1" i="0" u="none" strike="noStrike" cap="none" dirty="0">
                <a:solidFill>
                  <a:srgbClr val="C00000"/>
                </a:solidFill>
                <a:latin typeface="Arial"/>
                <a:ea typeface="Arial"/>
                <a:cs typeface="Arial"/>
                <a:sym typeface="Arial"/>
              </a:rPr>
              <a:t>Presented by,</a:t>
            </a:r>
            <a:endParaRPr sz="2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FF"/>
              </a:buClr>
              <a:buSzPts val="2400"/>
              <a:buFont typeface="Arial"/>
              <a:buNone/>
            </a:pPr>
            <a:r>
              <a:rPr lang="en-US" sz="2400" b="1" i="0" u="none" strike="noStrike" cap="none" dirty="0">
                <a:solidFill>
                  <a:srgbClr val="0000FF"/>
                </a:solidFill>
                <a:latin typeface="Arial"/>
                <a:ea typeface="Arial"/>
                <a:cs typeface="Arial"/>
                <a:sym typeface="Arial"/>
              </a:rPr>
              <a:t>Name                 : </a:t>
            </a:r>
            <a:r>
              <a:rPr lang="en-US" sz="2400" b="1" i="0" u="none" strike="noStrike" cap="none" dirty="0" smtClean="0">
                <a:solidFill>
                  <a:srgbClr val="0000FF"/>
                </a:solidFill>
                <a:latin typeface="Arial"/>
                <a:ea typeface="Arial"/>
                <a:cs typeface="Arial"/>
                <a:sym typeface="Arial"/>
              </a:rPr>
              <a:t> P </a:t>
            </a:r>
            <a:r>
              <a:rPr lang="en-US" sz="2400" b="1" i="0" u="none" strike="noStrike" cap="none" dirty="0" err="1" smtClean="0">
                <a:solidFill>
                  <a:srgbClr val="0000FF"/>
                </a:solidFill>
                <a:latin typeface="Arial"/>
                <a:ea typeface="Arial"/>
                <a:cs typeface="Arial"/>
                <a:sym typeface="Arial"/>
              </a:rPr>
              <a:t>Parkavi</a:t>
            </a:r>
            <a:endParaRPr sz="2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FF"/>
              </a:buClr>
              <a:buSzPts val="2400"/>
              <a:buFont typeface="Arial"/>
              <a:buNone/>
            </a:pPr>
            <a:r>
              <a:rPr lang="en-US" sz="2400" b="1" i="0" u="none" strike="noStrike" cap="none" dirty="0">
                <a:solidFill>
                  <a:srgbClr val="0000FF"/>
                </a:solidFill>
                <a:latin typeface="Arial"/>
                <a:ea typeface="Arial"/>
                <a:cs typeface="Arial"/>
                <a:sym typeface="Arial"/>
              </a:rPr>
              <a:t>Register No.     </a:t>
            </a:r>
            <a:r>
              <a:rPr lang="en-US" sz="2400" b="1" i="0" u="none" strike="noStrike" cap="none" dirty="0" smtClean="0">
                <a:solidFill>
                  <a:srgbClr val="0000FF"/>
                </a:solidFill>
                <a:latin typeface="Arial"/>
                <a:ea typeface="Arial"/>
                <a:cs typeface="Arial"/>
                <a:sym typeface="Arial"/>
              </a:rPr>
              <a:t>:  </a:t>
            </a:r>
            <a:r>
              <a:rPr lang="en-US" sz="2400" b="1" dirty="0" smtClean="0">
                <a:solidFill>
                  <a:srgbClr val="0000FF"/>
                </a:solidFill>
                <a:latin typeface="Arial"/>
                <a:ea typeface="Arial"/>
                <a:cs typeface="Arial"/>
                <a:sym typeface="Arial"/>
              </a:rPr>
              <a:t>8115U23IT066</a:t>
            </a:r>
            <a:endParaRPr sz="2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FF"/>
              </a:buClr>
              <a:buSzPts val="2400"/>
              <a:buFont typeface="Arial"/>
              <a:buNone/>
            </a:pPr>
            <a:r>
              <a:rPr lang="en-US" sz="2400" b="1" i="0" u="none" strike="noStrike" cap="none" dirty="0">
                <a:solidFill>
                  <a:srgbClr val="0000FF"/>
                </a:solidFill>
                <a:latin typeface="Arial"/>
                <a:ea typeface="Arial"/>
                <a:cs typeface="Arial"/>
                <a:sym typeface="Arial"/>
              </a:rPr>
              <a:t>Roll. No.            </a:t>
            </a:r>
            <a:r>
              <a:rPr lang="en-US" sz="2400" b="1" i="0" u="none" strike="noStrike" cap="none" dirty="0" smtClean="0">
                <a:solidFill>
                  <a:srgbClr val="0000FF"/>
                </a:solidFill>
                <a:latin typeface="Arial"/>
                <a:ea typeface="Arial"/>
                <a:cs typeface="Arial"/>
                <a:sym typeface="Arial"/>
              </a:rPr>
              <a:t>:  </a:t>
            </a:r>
            <a:r>
              <a:rPr lang="en-US" sz="2400" b="1" dirty="0" smtClean="0">
                <a:solidFill>
                  <a:srgbClr val="0000FF"/>
                </a:solidFill>
                <a:latin typeface="Arial"/>
                <a:ea typeface="Arial"/>
                <a:cs typeface="Arial"/>
                <a:sym typeface="Arial"/>
              </a:rPr>
              <a:t>ITB2304</a:t>
            </a:r>
            <a:endParaRPr sz="2800" b="0" i="0" u="none" strike="noStrike" cap="none"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rgbClr val="0000FF"/>
              </a:buClr>
              <a:buSzPts val="2400"/>
              <a:buFont typeface="Arial"/>
              <a:buNone/>
            </a:pPr>
            <a:r>
              <a:rPr lang="en-US" sz="2400" b="1" i="0" u="none" strike="noStrike" cap="none" dirty="0">
                <a:solidFill>
                  <a:srgbClr val="0000FF"/>
                </a:solidFill>
                <a:latin typeface="Arial"/>
                <a:ea typeface="Arial"/>
                <a:cs typeface="Arial"/>
                <a:sym typeface="Arial"/>
              </a:rPr>
              <a:t>Year &amp; Section </a:t>
            </a:r>
            <a:r>
              <a:rPr lang="en-US" sz="2400" b="1" i="0" u="none" strike="noStrike" cap="none" dirty="0" smtClean="0">
                <a:solidFill>
                  <a:srgbClr val="0000FF"/>
                </a:solidFill>
                <a:latin typeface="Arial"/>
                <a:ea typeface="Arial"/>
                <a:cs typeface="Arial"/>
                <a:sym typeface="Arial"/>
              </a:rPr>
              <a:t>:  III - B</a:t>
            </a:r>
            <a:endParaRPr sz="2400" b="1" i="0" u="none" strike="noStrike" cap="none" dirty="0">
              <a:solidFill>
                <a:srgbClr val="0000FF"/>
              </a:solidFill>
              <a:latin typeface="Arial"/>
              <a:ea typeface="Arial"/>
              <a:cs typeface="Arial"/>
              <a:sym typeface="Arial"/>
            </a:endParaRPr>
          </a:p>
          <a:p>
            <a:pPr marL="0" lvl="0" indent="0">
              <a:lnSpc>
                <a:spcPct val="150000"/>
              </a:lnSpc>
              <a:spcBef>
                <a:spcPts val="0"/>
              </a:spcBef>
              <a:buClr>
                <a:srgbClr val="0000FF"/>
              </a:buClr>
              <a:buSzPts val="2400"/>
              <a:buNone/>
            </a:pPr>
            <a:r>
              <a:rPr lang="en-US" sz="2400" b="1" dirty="0">
                <a:solidFill>
                  <a:srgbClr val="0000FF"/>
                </a:solidFill>
                <a:latin typeface="Arial"/>
                <a:ea typeface="Arial"/>
                <a:cs typeface="Arial"/>
                <a:sym typeface="Arial"/>
              </a:rPr>
              <a:t>Course Code    </a:t>
            </a:r>
            <a:r>
              <a:rPr lang="en-US" sz="2400" b="1" dirty="0" smtClean="0">
                <a:solidFill>
                  <a:srgbClr val="0000FF"/>
                </a:solidFill>
                <a:latin typeface="Arial"/>
                <a:ea typeface="Arial"/>
                <a:cs typeface="Arial"/>
                <a:sym typeface="Arial"/>
              </a:rPr>
              <a:t>:  ITB1303</a:t>
            </a:r>
            <a:endParaRPr sz="2400" b="1" dirty="0">
              <a:solidFill>
                <a:srgbClr val="0000FF"/>
              </a:solidFill>
              <a:latin typeface="Arial"/>
              <a:ea typeface="Arial"/>
              <a:cs typeface="Arial"/>
              <a:sym typeface="Arial"/>
            </a:endParaRPr>
          </a:p>
          <a:p>
            <a:pPr marL="0" lvl="0" indent="0">
              <a:lnSpc>
                <a:spcPct val="150000"/>
              </a:lnSpc>
              <a:spcBef>
                <a:spcPts val="0"/>
              </a:spcBef>
              <a:buClr>
                <a:srgbClr val="0000FF"/>
              </a:buClr>
              <a:buSzPts val="2400"/>
              <a:buNone/>
            </a:pPr>
            <a:r>
              <a:rPr lang="en-US" sz="2400" b="1" dirty="0">
                <a:solidFill>
                  <a:srgbClr val="0000FF"/>
                </a:solidFill>
                <a:latin typeface="Arial"/>
                <a:ea typeface="Arial"/>
                <a:cs typeface="Arial"/>
                <a:sym typeface="Arial"/>
              </a:rPr>
              <a:t>Course Name   </a:t>
            </a:r>
            <a:r>
              <a:rPr lang="en-US" sz="2400" b="1" dirty="0" smtClean="0">
                <a:solidFill>
                  <a:srgbClr val="0000FF"/>
                </a:solidFill>
                <a:latin typeface="Arial"/>
                <a:ea typeface="Arial"/>
                <a:cs typeface="Arial"/>
                <a:sym typeface="Arial"/>
              </a:rPr>
              <a:t>: DATA MINING TECHNIQUES (TCPR)</a:t>
            </a:r>
            <a:endParaRPr sz="2400" b="1" dirty="0">
              <a:solidFill>
                <a:srgbClr val="0000FF"/>
              </a:solidFill>
              <a:latin typeface="Arial"/>
              <a:ea typeface="Arial"/>
              <a:cs typeface="Arial"/>
              <a:sym typeface="Arial"/>
            </a:endParaRPr>
          </a:p>
          <a:p>
            <a:pPr marL="0" marR="0" lvl="0" indent="0" algn="ctr" rtl="0">
              <a:lnSpc>
                <a:spcPct val="150000"/>
              </a:lnSpc>
              <a:spcBef>
                <a:spcPts val="0"/>
              </a:spcBef>
              <a:spcAft>
                <a:spcPts val="0"/>
              </a:spcAft>
              <a:buClr>
                <a:schemeClr val="dk1"/>
              </a:buClr>
              <a:buSzPts val="1800"/>
              <a:buFont typeface="Arial"/>
              <a:buNone/>
            </a:pPr>
            <a:endParaRPr sz="1800" b="1" i="0" u="none" strike="noStrike" cap="none" dirty="0">
              <a:solidFill>
                <a:srgbClr val="002060"/>
              </a:solidFill>
              <a:latin typeface="Arial"/>
              <a:ea typeface="Arial"/>
              <a:cs typeface="Arial"/>
              <a:sym typeface="Arial"/>
            </a:endParaRPr>
          </a:p>
          <a:p>
            <a:pPr marL="0" marR="0" lvl="0" indent="0" algn="ctr" rtl="0">
              <a:lnSpc>
                <a:spcPct val="150000"/>
              </a:lnSpc>
              <a:spcBef>
                <a:spcPts val="0"/>
              </a:spcBef>
              <a:spcAft>
                <a:spcPts val="0"/>
              </a:spcAft>
              <a:buClr>
                <a:schemeClr val="dk1"/>
              </a:buClr>
              <a:buSzPts val="1800"/>
              <a:buFont typeface="Arial"/>
              <a:buNone/>
            </a:pPr>
            <a:endParaRPr sz="1800" b="1" i="0" u="none" strike="noStrike" cap="none" dirty="0">
              <a:solidFill>
                <a:srgbClr val="FF0000"/>
              </a:solidFill>
              <a:latin typeface="Arial"/>
              <a:ea typeface="Arial"/>
              <a:cs typeface="Arial"/>
              <a:sym typeface="Arial"/>
            </a:endParaRPr>
          </a:p>
          <a:p>
            <a:pPr marL="0" marR="0" lvl="0" indent="0" algn="r" rtl="0">
              <a:lnSpc>
                <a:spcPct val="150000"/>
              </a:lnSpc>
              <a:spcBef>
                <a:spcPts val="0"/>
              </a:spcBef>
              <a:spcAft>
                <a:spcPts val="0"/>
              </a:spcAft>
              <a:buClr>
                <a:schemeClr val="dk1"/>
              </a:buClr>
              <a:buSzPts val="1800"/>
              <a:buFont typeface="Arial"/>
              <a:buNone/>
            </a:pPr>
            <a:r>
              <a:rPr lang="en-US" sz="1800" b="1" dirty="0">
                <a:solidFill>
                  <a:srgbClr val="FF0000"/>
                </a:solidFill>
                <a:latin typeface="Arial"/>
                <a:ea typeface="Arial"/>
                <a:cs typeface="Arial"/>
                <a:sym typeface="Arial"/>
              </a:rPr>
              <a:t> </a:t>
            </a:r>
            <a:endParaRPr sz="1800" b="1" i="0" u="none" strike="noStrike" cap="none" dirty="0">
              <a:solidFill>
                <a:srgbClr val="FF0000"/>
              </a:solidFill>
              <a:latin typeface="Arial"/>
              <a:ea typeface="Arial"/>
              <a:cs typeface="Arial"/>
              <a:sym typeface="Arial"/>
            </a:endParaRPr>
          </a:p>
          <a:p>
            <a:pPr marL="0" marR="0" lvl="0" indent="0" algn="ctr" rtl="0">
              <a:lnSpc>
                <a:spcPct val="150000"/>
              </a:lnSpc>
              <a:spcBef>
                <a:spcPts val="0"/>
              </a:spcBef>
              <a:spcAft>
                <a:spcPts val="0"/>
              </a:spcAft>
              <a:buClr>
                <a:schemeClr val="dk1"/>
              </a:buClr>
              <a:buSzPts val="1800"/>
              <a:buFont typeface="Arial"/>
              <a:buNone/>
            </a:pPr>
            <a:endParaRPr sz="1800" b="0" i="0" u="none" strike="noStrike" cap="none" dirty="0">
              <a:solidFill>
                <a:srgbClr val="8B8B8B"/>
              </a:solidFill>
              <a:latin typeface="Arial"/>
              <a:ea typeface="Arial"/>
              <a:cs typeface="Arial"/>
              <a:sym typeface="Arial"/>
            </a:endParaRPr>
          </a:p>
          <a:p>
            <a:pPr marL="0" marR="0" lvl="0" indent="0" algn="r" rtl="0">
              <a:lnSpc>
                <a:spcPct val="150000"/>
              </a:lnSpc>
              <a:spcBef>
                <a:spcPts val="0"/>
              </a:spcBef>
              <a:spcAft>
                <a:spcPts val="0"/>
              </a:spcAft>
              <a:buClr>
                <a:schemeClr val="dk1"/>
              </a:buClr>
              <a:buSzPts val="1800"/>
              <a:buFont typeface="Arial"/>
              <a:buNone/>
            </a:pPr>
            <a:endParaRPr sz="1800" b="0" i="0" u="none" strike="noStrike" cap="none" dirty="0">
              <a:solidFill>
                <a:srgbClr val="8B8B8B"/>
              </a:solidFill>
              <a:latin typeface="Arial"/>
              <a:ea typeface="Arial"/>
              <a:cs typeface="Arial"/>
              <a:sym typeface="Arial"/>
            </a:endParaRPr>
          </a:p>
          <a:p>
            <a:pPr marL="0" marR="0" lvl="0" indent="0" algn="r" rtl="0">
              <a:lnSpc>
                <a:spcPct val="150000"/>
              </a:lnSpc>
              <a:spcBef>
                <a:spcPts val="0"/>
              </a:spcBef>
              <a:spcAft>
                <a:spcPts val="0"/>
              </a:spcAft>
              <a:buClr>
                <a:schemeClr val="dk1"/>
              </a:buClr>
              <a:buSzPts val="1800"/>
              <a:buFont typeface="Arial"/>
              <a:buNone/>
            </a:pPr>
            <a:endParaRPr sz="1800" b="0" i="0" u="none" strike="noStrike" cap="none" dirty="0">
              <a:solidFill>
                <a:srgbClr val="8B8B8B"/>
              </a:solidFill>
              <a:latin typeface="Arial"/>
              <a:ea typeface="Arial"/>
              <a:cs typeface="Arial"/>
              <a:sym typeface="Arial"/>
            </a:endParaRPr>
          </a:p>
        </p:txBody>
      </p:sp>
      <p:sp>
        <p:nvSpPr>
          <p:cNvPr id="36976" name="Google Shape;36976;p1"/>
          <p:cNvSpPr/>
          <p:nvPr/>
        </p:nvSpPr>
        <p:spPr>
          <a:xfrm>
            <a:off x="1679575" y="-1684338"/>
            <a:ext cx="3543300" cy="3514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dk1"/>
              </a:solidFill>
              <a:latin typeface="Calibri"/>
              <a:ea typeface="Calibri"/>
              <a:cs typeface="Calibri"/>
              <a:sym typeface="Calibri"/>
            </a:endParaRPr>
          </a:p>
        </p:txBody>
      </p:sp>
      <p:pic>
        <p:nvPicPr>
          <p:cNvPr id="36977" name="Google Shape;36977;p1"/>
          <p:cNvPicPr preferRelativeResize="0"/>
          <p:nvPr/>
        </p:nvPicPr>
        <p:blipFill rotWithShape="1">
          <a:blip r:embed="rId3">
            <a:alphaModFix/>
          </a:blip>
          <a:srcRect/>
          <a:stretch/>
        </p:blipFill>
        <p:spPr>
          <a:xfrm>
            <a:off x="367251" y="356884"/>
            <a:ext cx="1312323" cy="1300606"/>
          </a:xfrm>
          <a:prstGeom prst="rect">
            <a:avLst/>
          </a:prstGeom>
          <a:noFill/>
          <a:ln>
            <a:noFill/>
          </a:ln>
        </p:spPr>
      </p:pic>
      <p:sp>
        <p:nvSpPr>
          <p:cNvPr id="36978" name="Google Shape;36978;p1"/>
          <p:cNvSpPr/>
          <p:nvPr/>
        </p:nvSpPr>
        <p:spPr>
          <a:xfrm>
            <a:off x="1551709" y="485559"/>
            <a:ext cx="8863500" cy="22761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Clr>
                <a:srgbClr val="000000"/>
              </a:buClr>
              <a:buSzPts val="2800"/>
              <a:buFont typeface="Times New Roman"/>
              <a:buNone/>
            </a:pPr>
            <a:r>
              <a:rPr lang="en-US" sz="2800" b="1" i="0" u="none" strike="noStrike" cap="none" dirty="0">
                <a:solidFill>
                  <a:srgbClr val="002060"/>
                </a:solidFill>
                <a:latin typeface="Arial"/>
                <a:ea typeface="Arial"/>
                <a:cs typeface="Arial"/>
                <a:sym typeface="Arial"/>
              </a:rPr>
              <a:t>K.RAMAKRISHNAN COLLEGE OF ENGINEERING</a:t>
            </a:r>
            <a:endParaRPr sz="1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rgbClr val="000000"/>
              </a:buClr>
              <a:buSzPts val="1800"/>
              <a:buFont typeface="Times New Roman"/>
              <a:buNone/>
            </a:pPr>
            <a:r>
              <a:rPr lang="en-US" sz="1800" b="1" i="0" u="none" strike="noStrike" cap="none" dirty="0">
                <a:solidFill>
                  <a:srgbClr val="FF0066"/>
                </a:solidFill>
                <a:latin typeface="Arial"/>
                <a:ea typeface="Arial"/>
                <a:cs typeface="Arial"/>
                <a:sym typeface="Arial"/>
              </a:rPr>
              <a:t>(AUTONOMOUS)</a:t>
            </a:r>
            <a:endParaRPr sz="1800" dirty="0">
              <a:solidFill>
                <a:schemeClr val="dk1"/>
              </a:solidFill>
              <a:latin typeface="Calibri"/>
              <a:ea typeface="Calibri"/>
              <a:cs typeface="Calibri"/>
              <a:sym typeface="Calibri"/>
            </a:endParaRPr>
          </a:p>
          <a:p>
            <a:pPr marL="0" marR="0" lvl="0" indent="0" algn="ctr" rtl="0">
              <a:spcBef>
                <a:spcPts val="0"/>
              </a:spcBef>
              <a:spcAft>
                <a:spcPts val="0"/>
              </a:spcAft>
              <a:buClr>
                <a:srgbClr val="000000"/>
              </a:buClr>
              <a:buSzPts val="1800"/>
              <a:buFont typeface="Times New Roman"/>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Clr>
                <a:srgbClr val="000000"/>
              </a:buClr>
              <a:buSzPts val="2800"/>
              <a:buFont typeface="Times New Roman"/>
              <a:buNone/>
            </a:pPr>
            <a:r>
              <a:rPr lang="en-GB" sz="2800" b="1" dirty="0" smtClean="0">
                <a:solidFill>
                  <a:srgbClr val="FF0066"/>
                </a:solidFill>
                <a:latin typeface="Arial"/>
                <a:ea typeface="Calibri"/>
                <a:cs typeface="Arial"/>
                <a:sym typeface="Arial"/>
              </a:rPr>
              <a:t>HOUSE PRICE ANALYSIS AND PREDICTION</a:t>
            </a:r>
            <a:endParaRPr sz="1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rgbClr val="000000"/>
              </a:buClr>
              <a:buSzPts val="1400"/>
              <a:buFont typeface="Times New Roman"/>
              <a:buNone/>
            </a:pPr>
            <a:endParaRPr sz="1400" b="1" i="0" u="none" strike="noStrike" cap="none" dirty="0">
              <a:solidFill>
                <a:srgbClr val="FF0066"/>
              </a:solidFill>
              <a:latin typeface="Arial"/>
              <a:ea typeface="Arial"/>
              <a:cs typeface="Arial"/>
              <a:sym typeface="Arial"/>
            </a:endParaRPr>
          </a:p>
          <a:p>
            <a:pPr marL="0" marR="0" lvl="0" indent="0" algn="ctr" rtl="0">
              <a:spcBef>
                <a:spcPts val="0"/>
              </a:spcBef>
              <a:spcAft>
                <a:spcPts val="0"/>
              </a:spcAft>
              <a:buClr>
                <a:srgbClr val="000000"/>
              </a:buClr>
              <a:buSzPts val="1800"/>
              <a:buFont typeface="Times New Roman"/>
              <a:buNone/>
            </a:pPr>
            <a:r>
              <a:rPr lang="en-US" sz="1800" b="1" i="0" u="none" strike="noStrike" cap="none" dirty="0">
                <a:solidFill>
                  <a:srgbClr val="0000FF"/>
                </a:solidFill>
                <a:latin typeface="Arial"/>
                <a:ea typeface="Arial"/>
                <a:cs typeface="Arial"/>
                <a:sym typeface="Arial"/>
              </a:rPr>
              <a:t> </a:t>
            </a:r>
            <a:endParaRPr sz="1800" b="0" i="0" u="none" strike="noStrike" cap="none" dirty="0">
              <a:solidFill>
                <a:schemeClr val="dk1"/>
              </a:solidFill>
              <a:latin typeface="Calibri"/>
              <a:ea typeface="Calibri"/>
              <a:cs typeface="Calibri"/>
              <a:sym typeface="Calibri"/>
            </a:endParaRPr>
          </a:p>
        </p:txBody>
      </p:sp>
      <p:pic>
        <p:nvPicPr>
          <p:cNvPr id="36979" name="Google Shape;36979;p1" descr="A blue and white logo&#10;&#10;Description automatically generated"/>
          <p:cNvPicPr preferRelativeResize="0"/>
          <p:nvPr/>
        </p:nvPicPr>
        <p:blipFill rotWithShape="1">
          <a:blip r:embed="rId4">
            <a:alphaModFix/>
          </a:blip>
          <a:srcRect/>
          <a:stretch/>
        </p:blipFill>
        <p:spPr>
          <a:xfrm>
            <a:off x="10156050" y="347940"/>
            <a:ext cx="1716050" cy="1309550"/>
          </a:xfrm>
          <a:prstGeom prst="rect">
            <a:avLst/>
          </a:prstGeom>
          <a:noFill/>
          <a:ln>
            <a:noFill/>
          </a:ln>
        </p:spPr>
      </p:pic>
      <p:sp>
        <p:nvSpPr>
          <p:cNvPr id="36980" name="Google Shape;36980;p1"/>
          <p:cNvSpPr txBox="1"/>
          <p:nvPr/>
        </p:nvSpPr>
        <p:spPr>
          <a:xfrm>
            <a:off x="561702" y="5962415"/>
            <a:ext cx="5934514" cy="507791"/>
          </a:xfrm>
          <a:prstGeom prst="rect">
            <a:avLst/>
          </a:prstGeom>
          <a:noFill/>
          <a:ln>
            <a:noFill/>
          </a:ln>
        </p:spPr>
        <p:txBody>
          <a:bodyPr spcFirstLastPara="1" wrap="square" lIns="91425" tIns="45700" rIns="91425" bIns="45700" anchor="t" anchorCtr="0">
            <a:spAutoFit/>
          </a:bodyPr>
          <a:lstStyle/>
          <a:p>
            <a:pPr marL="0" marR="0" lvl="0" indent="0" rtl="0">
              <a:lnSpc>
                <a:spcPct val="150000"/>
              </a:lnSpc>
              <a:spcBef>
                <a:spcPts val="0"/>
              </a:spcBef>
              <a:spcAft>
                <a:spcPts val="0"/>
              </a:spcAft>
              <a:buClr>
                <a:srgbClr val="C00000"/>
              </a:buClr>
              <a:buSzPts val="1800"/>
              <a:buFont typeface="Arial"/>
              <a:buNone/>
            </a:pPr>
            <a:r>
              <a:rPr lang="en-US" sz="1800" b="1" i="0" u="none" strike="noStrike" cap="none" dirty="0">
                <a:solidFill>
                  <a:srgbClr val="C00000"/>
                </a:solidFill>
                <a:latin typeface="Calibri"/>
                <a:ea typeface="Calibri"/>
                <a:cs typeface="Calibri"/>
                <a:sym typeface="Calibri"/>
              </a:rPr>
              <a:t>           </a:t>
            </a:r>
            <a:r>
              <a:rPr lang="en-US" sz="1800" b="1" i="0" u="none" strike="noStrike" cap="none" dirty="0">
                <a:solidFill>
                  <a:srgbClr val="C00000"/>
                </a:solidFill>
                <a:latin typeface="Arial"/>
                <a:ea typeface="Arial"/>
                <a:cs typeface="Arial"/>
                <a:sym typeface="Arial"/>
              </a:rPr>
              <a:t>Date of Review </a:t>
            </a:r>
            <a:r>
              <a:rPr lang="en-US" sz="1800" b="1" i="0" u="none" strike="noStrike" cap="none" smtClean="0">
                <a:solidFill>
                  <a:srgbClr val="C00000"/>
                </a:solidFill>
                <a:latin typeface="Arial"/>
                <a:ea typeface="Arial"/>
                <a:cs typeface="Arial"/>
                <a:sym typeface="Arial"/>
              </a:rPr>
              <a:t>: </a:t>
            </a:r>
            <a:r>
              <a:rPr lang="en-US" sz="1800" b="1" i="0" u="none" strike="noStrike" cap="none" smtClean="0">
                <a:solidFill>
                  <a:srgbClr val="C00000"/>
                </a:solidFill>
                <a:latin typeface="Arial"/>
                <a:ea typeface="Arial"/>
                <a:cs typeface="Arial"/>
                <a:sym typeface="Arial"/>
              </a:rPr>
              <a:t>15.12.2025  </a:t>
            </a:r>
            <a:endParaRPr sz="1800" b="1" i="0" u="sng" strike="noStrike" cap="none" dirty="0">
              <a:solidFill>
                <a:schemeClr val="dk1"/>
              </a:solidFill>
              <a:latin typeface="Calibri"/>
              <a:ea typeface="Calibri"/>
              <a:cs typeface="Calibri"/>
              <a:sym typeface="Calibri"/>
            </a:endParaRPr>
          </a:p>
        </p:txBody>
      </p:sp>
      <p:sp>
        <p:nvSpPr>
          <p:cNvPr id="2" name="Slide Number Placeholder 1"/>
          <p:cNvSpPr>
            <a:spLocks noGrp="1"/>
          </p:cNvSpPr>
          <p:nvPr>
            <p:ph type="sldNum" idx="11"/>
          </p:nvPr>
        </p:nvSpPr>
        <p:spPr/>
        <p:txBody>
          <a:bodyPr/>
          <a:lstStyle/>
          <a:p>
            <a:pPr>
              <a:defRPr/>
            </a:pPr>
            <a:fld id="{B0B1F0C1-FE4D-47C4-BFD4-577E77A4BE46}" type="slidenum">
              <a:rPr lang="en-US" altLang="en-US" smtClean="0"/>
              <a:pPr>
                <a:defRPr/>
              </a:pPr>
              <a:t>1</a:t>
            </a:fld>
            <a:endParaRPr lang="en-US" altLang="en-US"/>
          </a:p>
        </p:txBody>
      </p:sp>
    </p:spTree>
    <p:extLst>
      <p:ext uri="{BB962C8B-B14F-4D97-AF65-F5344CB8AC3E}">
        <p14:creationId xmlns="" xmlns:p14="http://schemas.microsoft.com/office/powerpoint/2010/main" val="332166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2800" b="1" dirty="0" smtClean="0">
                <a:solidFill>
                  <a:srgbClr val="FF0066"/>
                </a:solidFill>
                <a:latin typeface="Arial"/>
                <a:cs typeface="Arial"/>
                <a:sym typeface="Arial"/>
              </a:rPr>
              <a:t>OBJECTIVE</a:t>
            </a:r>
            <a:endParaRPr lang="en-IN" sz="2800" dirty="0"/>
          </a:p>
        </p:txBody>
      </p:sp>
      <p:sp>
        <p:nvSpPr>
          <p:cNvPr id="8" name="Content Placeholder 7"/>
          <p:cNvSpPr>
            <a:spLocks noGrp="1"/>
          </p:cNvSpPr>
          <p:nvPr>
            <p:ph idx="1"/>
          </p:nvPr>
        </p:nvSpPr>
        <p:spPr/>
        <p:txBody>
          <a:bodyPr>
            <a:normAutofit/>
          </a:bodyPr>
          <a:lstStyle/>
          <a:p>
            <a:pPr algn="just">
              <a:lnSpc>
                <a:spcPct val="100000"/>
              </a:lnSpc>
              <a:buNone/>
            </a:pPr>
            <a:r>
              <a:rPr lang="en-GB" dirty="0" smtClean="0"/>
              <a:t>     </a:t>
            </a:r>
            <a:r>
              <a:rPr lang="en-GB" dirty="0" smtClean="0">
                <a:latin typeface="Times New Roman" pitchFamily="18" charset="0"/>
                <a:cs typeface="Times New Roman" pitchFamily="18" charset="0"/>
              </a:rPr>
              <a:t>The objective of this project is to design and implement a system that leverages modern computational techniques to enhance accuracy, efficiency, and reliability in data processing and decision-making. The system aims to reduce manual effort, optimize resources, and provide real-time insights for improved performance.</a:t>
            </a:r>
          </a:p>
          <a:p>
            <a:pPr algn="just">
              <a:buNone/>
            </a:pPr>
            <a:endParaRPr lang="en-IN" dirty="0"/>
          </a:p>
        </p:txBody>
      </p:sp>
      <p:sp>
        <p:nvSpPr>
          <p:cNvPr id="5" name="Footer Placeholder 4"/>
          <p:cNvSpPr>
            <a:spLocks noGrp="1"/>
          </p:cNvSpPr>
          <p:nvPr>
            <p:ph type="ftr" sz="quarter" idx="11"/>
          </p:nvPr>
        </p:nvSpPr>
        <p:spPr/>
        <p:txBody>
          <a:bodyPr/>
          <a:lstStyle/>
          <a:p>
            <a:r>
              <a:rPr lang="en-IN" dirty="0" smtClean="0"/>
              <a:t>ITC1303 – DATA MINING TECHNIQUES</a:t>
            </a:r>
            <a:endParaRPr lang="en-IN" dirty="0"/>
          </a:p>
        </p:txBody>
      </p:sp>
      <p:sp>
        <p:nvSpPr>
          <p:cNvPr id="6" name="Slide Number Placeholder 5"/>
          <p:cNvSpPr>
            <a:spLocks noGrp="1"/>
          </p:cNvSpPr>
          <p:nvPr>
            <p:ph type="sldNum" sz="quarter" idx="12"/>
          </p:nvPr>
        </p:nvSpPr>
        <p:spPr/>
        <p:txBody>
          <a:bodyPr/>
          <a:lstStyle/>
          <a:p>
            <a:fld id="{D0CD2EA7-D846-4DD1-862F-6C9076468EAA}" type="slidenum">
              <a:rPr lang="en-IN" smtClean="0"/>
              <a:pPr/>
              <a:t>2</a:t>
            </a:fld>
            <a:endParaRPr lang="en-IN"/>
          </a:p>
        </p:txBody>
      </p:sp>
    </p:spTree>
    <p:extLst>
      <p:ext uri="{BB962C8B-B14F-4D97-AF65-F5344CB8AC3E}">
        <p14:creationId xmlns="" xmlns:p14="http://schemas.microsoft.com/office/powerpoint/2010/main" val="3489905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981"/>
        <p:cNvGrpSpPr/>
        <p:nvPr/>
      </p:nvGrpSpPr>
      <p:grpSpPr>
        <a:xfrm>
          <a:off x="0" y="0"/>
          <a:ext cx="0" cy="0"/>
          <a:chOff x="0" y="0"/>
          <a:chExt cx="0" cy="0"/>
        </a:xfrm>
      </p:grpSpPr>
      <p:sp>
        <p:nvSpPr>
          <p:cNvPr id="36983" name="Google Shape;36983;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spcBef>
                <a:spcPts val="0"/>
              </a:spcBef>
            </a:pPr>
            <a:r>
              <a:rPr lang="en-US" sz="2800" b="1" i="0" u="none" strike="noStrike" cap="none" dirty="0" smtClean="0">
                <a:solidFill>
                  <a:srgbClr val="FF0066"/>
                </a:solidFill>
                <a:latin typeface="Arial"/>
                <a:ea typeface="Arial"/>
                <a:cs typeface="Arial"/>
                <a:sym typeface="Arial"/>
              </a:rPr>
              <a:t>AGENDA</a:t>
            </a:r>
            <a:endParaRPr sz="2800" b="1" dirty="0">
              <a:latin typeface="Arial"/>
              <a:ea typeface="Arial"/>
              <a:cs typeface="Arial"/>
              <a:sym typeface="Arial"/>
            </a:endParaRPr>
          </a:p>
        </p:txBody>
      </p:sp>
      <p:sp>
        <p:nvSpPr>
          <p:cNvPr id="4" name="Content Placeholder 3"/>
          <p:cNvSpPr>
            <a:spLocks noGrp="1"/>
          </p:cNvSpPr>
          <p:nvPr>
            <p:ph idx="1"/>
          </p:nvPr>
        </p:nvSpPr>
        <p:spPr>
          <a:xfrm>
            <a:off x="737119" y="1539552"/>
            <a:ext cx="10654004" cy="4656073"/>
          </a:xfrm>
        </p:spPr>
        <p:txBody>
          <a:bodyPr>
            <a:normAutofit fontScale="70000" lnSpcReduction="20000"/>
          </a:bodyPr>
          <a:lstStyle/>
          <a:p>
            <a:pPr marL="285750" indent="-285750"/>
            <a:r>
              <a:rPr lang="en-US" dirty="0" smtClean="0">
                <a:latin typeface="Times New Roman" pitchFamily="18" charset="0"/>
                <a:cs typeface="Times New Roman" pitchFamily="18" charset="0"/>
              </a:rPr>
              <a:t>Title</a:t>
            </a:r>
          </a:p>
          <a:p>
            <a:r>
              <a:rPr lang="en-US" dirty="0" smtClean="0">
                <a:latin typeface="Times New Roman" pitchFamily="18" charset="0"/>
                <a:cs typeface="Times New Roman" pitchFamily="18" charset="0"/>
              </a:rPr>
              <a:t>Abstract</a:t>
            </a:r>
          </a:p>
          <a:p>
            <a:r>
              <a:rPr lang="en-US" dirty="0" smtClean="0">
                <a:latin typeface="Times New Roman" pitchFamily="18" charset="0"/>
                <a:cs typeface="Times New Roman" pitchFamily="18" charset="0"/>
              </a:rPr>
              <a:t>Introduction</a:t>
            </a:r>
          </a:p>
          <a:p>
            <a:r>
              <a:rPr lang="en-US" dirty="0" smtClean="0">
                <a:latin typeface="Times New Roman" pitchFamily="18" charset="0"/>
                <a:cs typeface="Times New Roman" pitchFamily="18" charset="0"/>
              </a:rPr>
              <a:t>purpose of the project</a:t>
            </a:r>
          </a:p>
          <a:p>
            <a:r>
              <a:rPr lang="en-US" dirty="0" smtClean="0">
                <a:latin typeface="Times New Roman" pitchFamily="18" charset="0"/>
                <a:cs typeface="Times New Roman" pitchFamily="18" charset="0"/>
              </a:rPr>
              <a:t>scope of the project</a:t>
            </a:r>
          </a:p>
          <a:p>
            <a:r>
              <a:rPr lang="en-US" dirty="0" smtClean="0">
                <a:latin typeface="Times New Roman" pitchFamily="18" charset="0"/>
                <a:cs typeface="Times New Roman" pitchFamily="18" charset="0"/>
              </a:rPr>
              <a:t>significance of the project</a:t>
            </a:r>
          </a:p>
          <a:p>
            <a:r>
              <a:rPr lang="en-US" dirty="0" smtClean="0">
                <a:latin typeface="Times New Roman" pitchFamily="18" charset="0"/>
                <a:cs typeface="Times New Roman" pitchFamily="18" charset="0"/>
              </a:rPr>
              <a:t>Literature survey</a:t>
            </a:r>
          </a:p>
          <a:p>
            <a:r>
              <a:rPr lang="en-US" dirty="0" smtClean="0">
                <a:latin typeface="Times New Roman" pitchFamily="18" charset="0"/>
                <a:cs typeface="Times New Roman" pitchFamily="18" charset="0"/>
              </a:rPr>
              <a:t>Existing System and Proposed solution</a:t>
            </a:r>
          </a:p>
          <a:p>
            <a:r>
              <a:rPr lang="en-US" dirty="0" smtClean="0">
                <a:latin typeface="Times New Roman" pitchFamily="18" charset="0"/>
                <a:cs typeface="Times New Roman" pitchFamily="18" charset="0"/>
              </a:rPr>
              <a:t>Hardware and software require</a:t>
            </a:r>
          </a:p>
          <a:p>
            <a:r>
              <a:rPr lang="en-US" dirty="0" smtClean="0">
                <a:latin typeface="Times New Roman" pitchFamily="18" charset="0"/>
                <a:cs typeface="Times New Roman" pitchFamily="18" charset="0"/>
              </a:rPr>
              <a:t>system design/architecture</a:t>
            </a:r>
          </a:p>
          <a:p>
            <a:r>
              <a:rPr lang="en-US" dirty="0" smtClean="0">
                <a:latin typeface="Times New Roman" pitchFamily="18" charset="0"/>
                <a:cs typeface="Times New Roman" pitchFamily="18" charset="0"/>
              </a:rPr>
              <a:t>modules description</a:t>
            </a:r>
          </a:p>
          <a:p>
            <a:r>
              <a:rPr lang="en-US" dirty="0" smtClean="0">
                <a:latin typeface="Times New Roman" pitchFamily="18" charset="0"/>
                <a:cs typeface="Times New Roman" pitchFamily="18" charset="0"/>
              </a:rPr>
              <a:t>conclusion and Future Enhancement </a:t>
            </a:r>
          </a:p>
          <a:p>
            <a:r>
              <a:rPr lang="en-US" dirty="0" smtClean="0">
                <a:latin typeface="Times New Roman" pitchFamily="18" charset="0"/>
                <a:cs typeface="Times New Roman" pitchFamily="18" charset="0"/>
              </a:rPr>
              <a:t>Reference</a:t>
            </a:r>
            <a:endParaRPr lang="en-IN" dirty="0" smtClean="0">
              <a:latin typeface="Times New Roman" pitchFamily="18" charset="0"/>
              <a:cs typeface="Times New Roman" pitchFamily="18" charset="0"/>
            </a:endParaRPr>
          </a:p>
          <a:p>
            <a:pPr>
              <a:buNone/>
            </a:pPr>
            <a:endParaRPr lang="en-IN" dirty="0"/>
          </a:p>
        </p:txBody>
      </p:sp>
      <p:sp>
        <p:nvSpPr>
          <p:cNvPr id="2" name="Footer Placeholder 1"/>
          <p:cNvSpPr>
            <a:spLocks noGrp="1"/>
          </p:cNvSpPr>
          <p:nvPr>
            <p:ph type="ftr" sz="quarter" idx="11"/>
          </p:nvPr>
        </p:nvSpPr>
        <p:spPr/>
        <p:txBody>
          <a:bodyPr/>
          <a:lstStyle/>
          <a:p>
            <a:r>
              <a:rPr lang="en-IN" dirty="0" smtClean="0"/>
              <a:t>ITC1303 – DATA MINING TECHNIQUES</a:t>
            </a:r>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3</a:t>
            </a:fld>
            <a:endParaRPr lang="en-IN"/>
          </a:p>
        </p:txBody>
      </p:sp>
    </p:spTree>
    <p:extLst>
      <p:ext uri="{BB962C8B-B14F-4D97-AF65-F5344CB8AC3E}">
        <p14:creationId xmlns="" xmlns:p14="http://schemas.microsoft.com/office/powerpoint/2010/main" val="178159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0066"/>
                </a:solidFill>
                <a:latin typeface="Arial"/>
                <a:cs typeface="Arial"/>
                <a:sym typeface="Arial"/>
              </a:rPr>
              <a:t>INTRODUCTION</a:t>
            </a:r>
            <a:endParaRPr lang="en-IN" sz="28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586204"/>
            <a:ext cx="10515600" cy="4590759"/>
          </a:xfrm>
        </p:spPr>
        <p:txBody>
          <a:bodyPr/>
          <a:lstStyle/>
          <a:p>
            <a:pPr algn="just">
              <a:lnSpc>
                <a:spcPct val="100000"/>
              </a:lnSpc>
              <a:buNone/>
            </a:pPr>
            <a:r>
              <a:rPr lang="en-GB" dirty="0" smtClean="0"/>
              <a:t>     </a:t>
            </a:r>
            <a:r>
              <a:rPr lang="en-GB" sz="2400" dirty="0" smtClean="0">
                <a:latin typeface="Times New Roman" pitchFamily="18" charset="0"/>
                <a:cs typeface="Times New Roman" pitchFamily="18" charset="0"/>
              </a:rPr>
              <a:t>With the rapid growth of technology and data, organizations face challenges in handling large volumes of information and transforming them into actionable insights. Traditional systems are often limited by scalability, accuracy, and speed. To address these issues, this project proposes an intelligent architecture that integrates advanced algorithms, modular design, and user-friendly tools.</a:t>
            </a:r>
          </a:p>
          <a:p>
            <a:pPr>
              <a:buNone/>
            </a:pPr>
            <a:endParaRPr lang="en-IN" dirty="0"/>
          </a:p>
        </p:txBody>
      </p:sp>
      <p:sp>
        <p:nvSpPr>
          <p:cNvPr id="4" name="Footer Placeholder 3"/>
          <p:cNvSpPr>
            <a:spLocks noGrp="1"/>
          </p:cNvSpPr>
          <p:nvPr>
            <p:ph type="ftr" sz="quarter" idx="11"/>
          </p:nvPr>
        </p:nvSpPr>
        <p:spPr/>
        <p:txBody>
          <a:bodyPr/>
          <a:lstStyle/>
          <a:p>
            <a:r>
              <a:rPr lang="en-IN" dirty="0" smtClean="0"/>
              <a:t>ITC1303– DATA MINING TECHNIQUES</a:t>
            </a:r>
            <a:endParaRPr lang="en-IN" dirty="0"/>
          </a:p>
        </p:txBody>
      </p:sp>
      <p:sp>
        <p:nvSpPr>
          <p:cNvPr id="5" name="Slide Number Placeholder 4"/>
          <p:cNvSpPr>
            <a:spLocks noGrp="1"/>
          </p:cNvSpPr>
          <p:nvPr>
            <p:ph type="sldNum" sz="quarter" idx="12"/>
          </p:nvPr>
        </p:nvSpPr>
        <p:spPr/>
        <p:txBody>
          <a:bodyPr/>
          <a:lstStyle/>
          <a:p>
            <a:fld id="{D0CD2EA7-D846-4DD1-862F-6C9076468EAA}" type="slidenum">
              <a:rPr lang="en-IN" smtClean="0"/>
              <a:pPr/>
              <a:t>4</a:t>
            </a:fld>
            <a:endParaRPr lang="en-IN"/>
          </a:p>
        </p:txBody>
      </p:sp>
    </p:spTree>
    <p:extLst>
      <p:ext uri="{BB962C8B-B14F-4D97-AF65-F5344CB8AC3E}">
        <p14:creationId xmlns="" xmlns:p14="http://schemas.microsoft.com/office/powerpoint/2010/main" val="1726047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5</a:t>
            </a:fld>
            <a:endParaRPr lang="en-IN"/>
          </a:p>
        </p:txBody>
      </p:sp>
      <p:sp>
        <p:nvSpPr>
          <p:cNvPr id="4" name="Rectangle 3"/>
          <p:cNvSpPr/>
          <p:nvPr/>
        </p:nvSpPr>
        <p:spPr>
          <a:xfrm>
            <a:off x="1284515" y="577239"/>
            <a:ext cx="6096000" cy="1384995"/>
          </a:xfrm>
          <a:prstGeom prst="rect">
            <a:avLst/>
          </a:prstGeom>
        </p:spPr>
        <p:txBody>
          <a:bodyPr>
            <a:spAutoFit/>
          </a:bodyPr>
          <a:lstStyle/>
          <a:p>
            <a:endParaRPr lang="en-US" sz="2800" b="1" dirty="0" smtClean="0">
              <a:solidFill>
                <a:srgbClr val="FF0066"/>
              </a:solidFill>
              <a:latin typeface="Arial" panose="020B0604020202020204" pitchFamily="34" charset="0"/>
              <a:cs typeface="Arial" panose="020B0604020202020204" pitchFamily="34" charset="0"/>
            </a:endParaRPr>
          </a:p>
          <a:p>
            <a:r>
              <a:rPr lang="en-US" sz="2800" b="1" dirty="0" smtClean="0">
                <a:solidFill>
                  <a:srgbClr val="FF0066"/>
                </a:solidFill>
                <a:latin typeface="Arial" panose="020B0604020202020204" pitchFamily="34" charset="0"/>
                <a:cs typeface="Arial" panose="020B0604020202020204" pitchFamily="34" charset="0"/>
              </a:rPr>
              <a:t>SCOPE OF THE PROJECT</a:t>
            </a:r>
            <a:r>
              <a:rPr lang="en-US" sz="2800" dirty="0" smtClean="0"/>
              <a:t/>
            </a:r>
            <a:br>
              <a:rPr lang="en-US" sz="2800" dirty="0" smtClean="0"/>
            </a:br>
            <a:endParaRPr lang="en-US" sz="2800" dirty="0"/>
          </a:p>
        </p:txBody>
      </p:sp>
      <p:sp>
        <p:nvSpPr>
          <p:cNvPr id="5" name="Rectangle 4"/>
          <p:cNvSpPr/>
          <p:nvPr/>
        </p:nvSpPr>
        <p:spPr>
          <a:xfrm>
            <a:off x="1390261" y="1735495"/>
            <a:ext cx="10092678" cy="2862322"/>
          </a:xfrm>
          <a:prstGeom prst="rect">
            <a:avLst/>
          </a:prstGeom>
        </p:spPr>
        <p:txBody>
          <a:bodyPr wrap="square">
            <a:spAutoFit/>
          </a:bodyPr>
          <a:lstStyle/>
          <a:p>
            <a:pPr algn="just">
              <a:lnSpc>
                <a:spcPct val="150000"/>
              </a:lnSpc>
              <a:buFont typeface="Wingdings" pitchFamily="2" charset="2"/>
              <a:buChar char="Ø"/>
            </a:pPr>
            <a:r>
              <a:rPr lang="en-GB" sz="2000" dirty="0" smtClean="0">
                <a:latin typeface="Times New Roman" pitchFamily="18" charset="0"/>
                <a:cs typeface="Times New Roman" pitchFamily="18" charset="0"/>
              </a:rPr>
              <a:t> Collecting and cleaning housing dataset</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Identifying key factors that influence house prices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Analyzing data using data mining techniques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Visualizing housing price trends and patterns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Building a machine learning model for house price prediction</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Predicting house prices based on selected features </a:t>
            </a: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6</a:t>
            </a:fld>
            <a:endParaRPr lang="en-IN"/>
          </a:p>
        </p:txBody>
      </p:sp>
      <p:sp>
        <p:nvSpPr>
          <p:cNvPr id="4" name="Rectangle 3"/>
          <p:cNvSpPr/>
          <p:nvPr/>
        </p:nvSpPr>
        <p:spPr>
          <a:xfrm>
            <a:off x="926758" y="603771"/>
            <a:ext cx="10210552" cy="3939540"/>
          </a:xfrm>
          <a:prstGeom prst="rect">
            <a:avLst/>
          </a:prstGeom>
        </p:spPr>
        <p:txBody>
          <a:bodyPr wrap="none">
            <a:spAutoFit/>
          </a:bodyPr>
          <a:lstStyle/>
          <a:p>
            <a:endParaRPr lang="en-US" sz="2400" b="1" dirty="0" smtClean="0">
              <a:solidFill>
                <a:srgbClr val="FF0066"/>
              </a:solidFill>
              <a:latin typeface="Arial" panose="020B0604020202020204" pitchFamily="34" charset="0"/>
              <a:cs typeface="Arial" panose="020B0604020202020204" pitchFamily="34" charset="0"/>
            </a:endParaRPr>
          </a:p>
          <a:p>
            <a:r>
              <a:rPr lang="en-US" sz="2800" b="1" dirty="0" smtClean="0">
                <a:solidFill>
                  <a:srgbClr val="FF0066"/>
                </a:solidFill>
                <a:latin typeface="Arial" panose="020B0604020202020204" pitchFamily="34" charset="0"/>
                <a:cs typeface="Arial" panose="020B0604020202020204" pitchFamily="34" charset="0"/>
              </a:rPr>
              <a:t>PURPOSE OF THE PROJECT</a:t>
            </a:r>
          </a:p>
          <a:p>
            <a:endParaRPr lang="en-US" b="1" dirty="0" smtClean="0">
              <a:solidFill>
                <a:srgbClr val="FF0066"/>
              </a:solidFill>
              <a:latin typeface="Arial" panose="020B0604020202020204" pitchFamily="34" charset="0"/>
              <a:cs typeface="Arial" panose="020B0604020202020204" pitchFamily="34" charset="0"/>
            </a:endParaRPr>
          </a:p>
          <a:p>
            <a:pPr algn="just">
              <a:lnSpc>
                <a:spcPct val="150000"/>
              </a:lnSpc>
              <a:buFont typeface="Wingdings" pitchFamily="2" charset="2"/>
              <a:buChar char="Ø"/>
            </a:pPr>
            <a:r>
              <a:rPr lang="en-GB" sz="2000" dirty="0" smtClean="0">
                <a:latin typeface="Times New Roman" pitchFamily="18" charset="0"/>
                <a:cs typeface="Times New Roman" pitchFamily="18" charset="0"/>
              </a:rPr>
              <a:t>To analyze how various factors like location, size, and number of rooms influence house prices.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To understand trends and patterns in the real estate market using data mining techniques.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To develop a prediction model that can estimate house prices accurately.</a:t>
            </a:r>
          </a:p>
          <a:p>
            <a:pPr algn="just">
              <a:lnSpc>
                <a:spcPct val="150000"/>
              </a:lnSpc>
              <a:buFont typeface="Wingdings" pitchFamily="2" charset="2"/>
              <a:buChar char="Ø"/>
            </a:pPr>
            <a:r>
              <a:rPr lang="en-GB" sz="2000" dirty="0" smtClean="0">
                <a:latin typeface="Times New Roman" pitchFamily="18" charset="0"/>
                <a:cs typeface="Times New Roman" pitchFamily="18" charset="0"/>
              </a:rPr>
              <a:t>To help buyers, sellers, and developers make better, data-driven decisions.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To provide visualizations and insights that make house price information easy to understand.</a:t>
            </a:r>
          </a:p>
          <a:p>
            <a:pPr algn="just">
              <a:lnSpc>
                <a:spcPct val="150000"/>
              </a:lnSpc>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7</a:t>
            </a:fld>
            <a:endParaRPr lang="en-IN"/>
          </a:p>
        </p:txBody>
      </p:sp>
      <p:sp>
        <p:nvSpPr>
          <p:cNvPr id="4" name="Rectangle 3"/>
          <p:cNvSpPr/>
          <p:nvPr/>
        </p:nvSpPr>
        <p:spPr>
          <a:xfrm>
            <a:off x="1157768" y="659755"/>
            <a:ext cx="5708614" cy="954107"/>
          </a:xfrm>
          <a:prstGeom prst="rect">
            <a:avLst/>
          </a:prstGeom>
        </p:spPr>
        <p:txBody>
          <a:bodyPr wrap="none">
            <a:spAutoFit/>
          </a:bodyPr>
          <a:lstStyle/>
          <a:p>
            <a:endParaRPr lang="en-US" sz="2800" b="1" dirty="0" smtClean="0">
              <a:solidFill>
                <a:srgbClr val="FF0066"/>
              </a:solidFill>
              <a:latin typeface="Arial" panose="020B0604020202020204" pitchFamily="34" charset="0"/>
              <a:cs typeface="Arial" panose="020B0604020202020204" pitchFamily="34" charset="0"/>
            </a:endParaRPr>
          </a:p>
          <a:p>
            <a:r>
              <a:rPr lang="en-US" sz="2800" b="1" dirty="0" smtClean="0">
                <a:solidFill>
                  <a:srgbClr val="FF0066"/>
                </a:solidFill>
                <a:latin typeface="Arial" panose="020B0604020202020204" pitchFamily="34" charset="0"/>
                <a:cs typeface="Arial" panose="020B0604020202020204" pitchFamily="34" charset="0"/>
              </a:rPr>
              <a:t>SIGNIFICANE OF THE PROJECT</a:t>
            </a:r>
            <a:endParaRPr lang="en-US" sz="2800" dirty="0"/>
          </a:p>
        </p:txBody>
      </p:sp>
      <p:sp>
        <p:nvSpPr>
          <p:cNvPr id="5" name="Rectangle 4"/>
          <p:cNvSpPr/>
          <p:nvPr/>
        </p:nvSpPr>
        <p:spPr>
          <a:xfrm>
            <a:off x="4227540" y="3244334"/>
            <a:ext cx="184731" cy="369332"/>
          </a:xfrm>
          <a:prstGeom prst="rect">
            <a:avLst/>
          </a:prstGeom>
        </p:spPr>
        <p:txBody>
          <a:bodyPr wrap="none">
            <a:spAutoFit/>
          </a:bodyPr>
          <a:lstStyle/>
          <a:p>
            <a:endParaRPr lang="en-US" dirty="0"/>
          </a:p>
        </p:txBody>
      </p:sp>
      <p:sp>
        <p:nvSpPr>
          <p:cNvPr id="6" name="Rectangle 5"/>
          <p:cNvSpPr/>
          <p:nvPr/>
        </p:nvSpPr>
        <p:spPr>
          <a:xfrm>
            <a:off x="1138335" y="1623526"/>
            <a:ext cx="9162661" cy="3360985"/>
          </a:xfrm>
          <a:prstGeom prst="rect">
            <a:avLst/>
          </a:prstGeom>
        </p:spPr>
        <p:txBody>
          <a:bodyPr wrap="square">
            <a:spAutoFit/>
          </a:bodyPr>
          <a:lstStyle/>
          <a:p>
            <a:pPr algn="just">
              <a:lnSpc>
                <a:spcPct val="150000"/>
              </a:lnSpc>
              <a:buFont typeface="Wingdings" pitchFamily="2" charset="2"/>
              <a:buChar char="Ø"/>
            </a:pPr>
            <a:r>
              <a:rPr lang="en-GB" sz="2400" dirty="0" smtClean="0"/>
              <a:t> </a:t>
            </a:r>
            <a:r>
              <a:rPr lang="en-GB" sz="2000" dirty="0" smtClean="0">
                <a:latin typeface="Times New Roman" pitchFamily="18" charset="0"/>
                <a:cs typeface="Times New Roman" pitchFamily="18" charset="0"/>
              </a:rPr>
              <a:t>Provides accurate, data-driven insights into the housing market</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Helps buyers, sellers, and investors understand property values easily</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Analyzes key factors such as location, size, and property features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Identifies trends that influence house price changes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Supports better and informed decision-making</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Reduces financial risks in real estate investments</a:t>
            </a:r>
          </a:p>
          <a:p>
            <a:pPr algn="just">
              <a:lnSpc>
                <a:spcPct val="150000"/>
              </a:lnSpc>
              <a:buFont typeface="Wingdings" pitchFamily="2" charset="2"/>
              <a:buChar char="Ø"/>
            </a:pPr>
            <a:r>
              <a:rPr lang="en-GB" sz="2000" dirty="0" smtClean="0">
                <a:latin typeface="Times New Roman" pitchFamily="18" charset="0"/>
                <a:cs typeface="Times New Roman" pitchFamily="18" charset="0"/>
              </a:rPr>
              <a:t> Improves planning for individuals and real estate professionals</a:t>
            </a: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8</a:t>
            </a:fld>
            <a:endParaRPr lang="en-IN"/>
          </a:p>
        </p:txBody>
      </p:sp>
      <p:sp>
        <p:nvSpPr>
          <p:cNvPr id="4" name="Rectangle 3"/>
          <p:cNvSpPr/>
          <p:nvPr/>
        </p:nvSpPr>
        <p:spPr>
          <a:xfrm>
            <a:off x="1041918" y="754521"/>
            <a:ext cx="6096000" cy="954107"/>
          </a:xfrm>
          <a:prstGeom prst="rect">
            <a:avLst/>
          </a:prstGeom>
        </p:spPr>
        <p:txBody>
          <a:bodyPr>
            <a:spAutoFit/>
          </a:bodyPr>
          <a:lstStyle/>
          <a:p>
            <a:r>
              <a:rPr lang="en-US" sz="2800" b="1" dirty="0" smtClean="0">
                <a:solidFill>
                  <a:srgbClr val="FF0066"/>
                </a:solidFill>
                <a:latin typeface="Arial" panose="020B0604020202020204" pitchFamily="34" charset="0"/>
                <a:cs typeface="Arial" panose="020B0604020202020204" pitchFamily="34" charset="0"/>
              </a:rPr>
              <a:t>LITERATURE SURVEY</a:t>
            </a:r>
            <a:r>
              <a:rPr lang="en-US" sz="2800" dirty="0" smtClean="0"/>
              <a:t/>
            </a:r>
            <a:br>
              <a:rPr lang="en-US" sz="2800" dirty="0" smtClean="0"/>
            </a:br>
            <a:endParaRPr lang="en-US" sz="2800" dirty="0"/>
          </a:p>
        </p:txBody>
      </p:sp>
      <p:graphicFrame>
        <p:nvGraphicFramePr>
          <p:cNvPr id="14" name="Table 13"/>
          <p:cNvGraphicFramePr>
            <a:graphicFrameLocks noGrp="1"/>
          </p:cNvGraphicFramePr>
          <p:nvPr/>
        </p:nvGraphicFramePr>
        <p:xfrm>
          <a:off x="1809549" y="1896176"/>
          <a:ext cx="8778240" cy="4158115"/>
        </p:xfrm>
        <a:graphic>
          <a:graphicData uri="http://schemas.openxmlformats.org/drawingml/2006/table">
            <a:tbl>
              <a:tblPr/>
              <a:tblGrid>
                <a:gridCol w="2194560"/>
                <a:gridCol w="2194560"/>
                <a:gridCol w="2194560"/>
                <a:gridCol w="2194560"/>
              </a:tblGrid>
              <a:tr h="301954">
                <a:tc>
                  <a:txBody>
                    <a:bodyPr/>
                    <a:lstStyle/>
                    <a:p>
                      <a:r>
                        <a:rPr lang="en-US" sz="1400" b="1" dirty="0" err="1"/>
                        <a:t>S.No</a:t>
                      </a:r>
                      <a:endParaRPr lang="en-US" sz="1400" b="1" dirty="0"/>
                    </a:p>
                  </a:txBody>
                  <a:tcPr marL="73225" marR="73225" marT="36613" marB="36613" anchor="ctr">
                    <a:lnL>
                      <a:noFill/>
                    </a:lnL>
                    <a:lnR>
                      <a:noFill/>
                    </a:lnR>
                    <a:lnT>
                      <a:noFill/>
                    </a:lnT>
                    <a:lnB>
                      <a:noFill/>
                    </a:lnB>
                  </a:tcPr>
                </a:tc>
                <a:tc>
                  <a:txBody>
                    <a:bodyPr/>
                    <a:lstStyle/>
                    <a:p>
                      <a:r>
                        <a:rPr lang="en-US" sz="1400" b="1" dirty="0" smtClean="0"/>
                        <a:t>BASE PAPER</a:t>
                      </a:r>
                      <a:endParaRPr lang="en-US" sz="1400" b="1" dirty="0"/>
                    </a:p>
                  </a:txBody>
                  <a:tcPr marL="73225" marR="73225" marT="36613" marB="36613" anchor="ctr">
                    <a:lnL>
                      <a:noFill/>
                    </a:lnL>
                    <a:lnR>
                      <a:noFill/>
                    </a:lnR>
                    <a:lnT>
                      <a:noFill/>
                    </a:lnT>
                    <a:lnB>
                      <a:noFill/>
                    </a:lnB>
                  </a:tcPr>
                </a:tc>
                <a:tc>
                  <a:txBody>
                    <a:bodyPr/>
                    <a:lstStyle/>
                    <a:p>
                      <a:r>
                        <a:rPr lang="en-US" sz="1400" b="1" dirty="0" smtClean="0"/>
                        <a:t>MERIT</a:t>
                      </a:r>
                      <a:endParaRPr lang="en-US" sz="1400" b="1" dirty="0"/>
                    </a:p>
                  </a:txBody>
                  <a:tcPr marL="73225" marR="73225" marT="36613" marB="36613" anchor="ctr">
                    <a:lnL>
                      <a:noFill/>
                    </a:lnL>
                    <a:lnR>
                      <a:noFill/>
                    </a:lnR>
                    <a:lnT>
                      <a:noFill/>
                    </a:lnT>
                    <a:lnB>
                      <a:noFill/>
                    </a:lnB>
                  </a:tcPr>
                </a:tc>
                <a:tc>
                  <a:txBody>
                    <a:bodyPr/>
                    <a:lstStyle/>
                    <a:p>
                      <a:r>
                        <a:rPr lang="en-US" sz="1400" b="1" dirty="0" smtClean="0"/>
                        <a:t>DEMERIT</a:t>
                      </a:r>
                      <a:endParaRPr lang="en-US" sz="1400" b="1" dirty="0"/>
                    </a:p>
                  </a:txBody>
                  <a:tcPr marL="73225" marR="73225" marT="36613" marB="36613" anchor="ctr">
                    <a:lnL>
                      <a:noFill/>
                    </a:lnL>
                    <a:lnR>
                      <a:noFill/>
                    </a:lnR>
                    <a:lnT>
                      <a:noFill/>
                    </a:lnT>
                    <a:lnB>
                      <a:noFill/>
                    </a:lnB>
                  </a:tcPr>
                </a:tc>
              </a:tr>
              <a:tr h="751557">
                <a:tc>
                  <a:txBody>
                    <a:bodyPr/>
                    <a:lstStyle/>
                    <a:p>
                      <a:r>
                        <a:rPr lang="en-US" sz="1400"/>
                        <a:t>1</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DRS: Dynamic Resource Scheduling for Real-Time Analytics over Fast Streams</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Ensures efficient real-time data processing with optimized resource usage</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Limited performance in highly unpredictable data environments</a:t>
                      </a:r>
                    </a:p>
                  </a:txBody>
                  <a:tcPr marL="73225" marR="73225" marT="36613" marB="36613" anchor="ctr">
                    <a:lnL>
                      <a:noFill/>
                    </a:lnL>
                    <a:lnR>
                      <a:noFill/>
                    </a:lnR>
                    <a:lnT>
                      <a:noFill/>
                    </a:lnT>
                    <a:lnB>
                      <a:noFill/>
                    </a:lnB>
                  </a:tcPr>
                </a:tc>
              </a:tr>
              <a:tr h="1004133">
                <a:tc>
                  <a:txBody>
                    <a:bodyPr/>
                    <a:lstStyle/>
                    <a:p>
                      <a:r>
                        <a:rPr lang="en-US" sz="1400"/>
                        <a:t>2</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RT-DAP: Real-Time Data Analytics Platform for Industrial Process Monitoring</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Provides real-time monitoring and fast decision support</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Mainly suitable for industrial systems; needs customization for other domains</a:t>
                      </a:r>
                    </a:p>
                  </a:txBody>
                  <a:tcPr marL="73225" marR="73225" marT="36613" marB="36613" anchor="ctr">
                    <a:lnL>
                      <a:noFill/>
                    </a:lnL>
                    <a:lnR>
                      <a:noFill/>
                    </a:lnR>
                    <a:lnT>
                      <a:noFill/>
                    </a:lnT>
                    <a:lnB>
                      <a:noFill/>
                    </a:lnB>
                  </a:tcPr>
                </a:tc>
              </a:tr>
              <a:tr h="1096338">
                <a:tc>
                  <a:txBody>
                    <a:bodyPr/>
                    <a:lstStyle/>
                    <a:p>
                      <a:r>
                        <a:rPr lang="en-US" sz="1400"/>
                        <a:t>3</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Business Process Optimization using AI and Big Data Analytics</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Improves operational efficiency by reducing processing time and resource cost</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Requires high-quality data and good technical infrastructure</a:t>
                      </a:r>
                    </a:p>
                  </a:txBody>
                  <a:tcPr marL="73225" marR="73225" marT="36613" marB="36613" anchor="ctr">
                    <a:lnL>
                      <a:noFill/>
                    </a:lnL>
                    <a:lnR>
                      <a:noFill/>
                    </a:lnR>
                    <a:lnT>
                      <a:noFill/>
                    </a:lnT>
                    <a:lnB>
                      <a:noFill/>
                    </a:lnB>
                  </a:tcPr>
                </a:tc>
              </a:tr>
              <a:tr h="1004133">
                <a:tc>
                  <a:txBody>
                    <a:bodyPr/>
                    <a:lstStyle/>
                    <a:p>
                      <a:r>
                        <a:rPr lang="en-US" sz="1400"/>
                        <a:t>4</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OCEP: Ontology-based Complex Event Processing Framework</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Supports semantic integration and accurate decision making from heterogeneous data</a:t>
                      </a:r>
                    </a:p>
                  </a:txBody>
                  <a:tcPr marL="73225" marR="73225" marT="36613" marB="36613" anchor="ctr">
                    <a:lnL>
                      <a:noFill/>
                    </a:lnL>
                    <a:lnR>
                      <a:noFill/>
                    </a:lnR>
                    <a:lnT>
                      <a:noFill/>
                    </a:lnT>
                    <a:lnB>
                      <a:noFill/>
                    </a:lnB>
                  </a:tcPr>
                </a:tc>
                <a:tc>
                  <a:txBody>
                    <a:bodyPr/>
                    <a:lstStyle/>
                    <a:p>
                      <a:r>
                        <a:rPr lang="en-GB" sz="1400" dirty="0">
                          <a:latin typeface="Times New Roman" pitchFamily="18" charset="0"/>
                          <a:cs typeface="Times New Roman" pitchFamily="18" charset="0"/>
                        </a:rPr>
                        <a:t>Ontology processing increases system complexity and overhead</a:t>
                      </a:r>
                    </a:p>
                  </a:txBody>
                  <a:tcPr marL="73225" marR="73225" marT="36613" marB="36613" anchor="ctr">
                    <a:lnL>
                      <a:noFill/>
                    </a:lnL>
                    <a:lnR>
                      <a:noFill/>
                    </a:lnR>
                    <a:lnT>
                      <a:noFill/>
                    </a:lnT>
                    <a:lnB>
                      <a:no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9</a:t>
            </a:fld>
            <a:endParaRPr lang="en-IN"/>
          </a:p>
        </p:txBody>
      </p:sp>
      <p:sp>
        <p:nvSpPr>
          <p:cNvPr id="4" name="Rectangle 3"/>
          <p:cNvSpPr/>
          <p:nvPr/>
        </p:nvSpPr>
        <p:spPr>
          <a:xfrm>
            <a:off x="873966" y="502594"/>
            <a:ext cx="9119119" cy="954107"/>
          </a:xfrm>
          <a:prstGeom prst="rect">
            <a:avLst/>
          </a:prstGeom>
        </p:spPr>
        <p:txBody>
          <a:bodyPr wrap="square">
            <a:spAutoFit/>
          </a:bodyPr>
          <a:lstStyle/>
          <a:p>
            <a:r>
              <a:rPr lang="en-US" sz="2800" b="1" dirty="0" smtClean="0">
                <a:solidFill>
                  <a:srgbClr val="FF0066"/>
                </a:solidFill>
                <a:latin typeface="Arial" panose="020B0604020202020204" pitchFamily="34" charset="0"/>
                <a:cs typeface="Arial" panose="020B0604020202020204" pitchFamily="34" charset="0"/>
              </a:rPr>
              <a:t> EXISTING SYSTEM AND PROPOSED SOLUTION</a:t>
            </a:r>
            <a:r>
              <a:rPr lang="en-US" sz="2800" dirty="0" smtClean="0"/>
              <a:t/>
            </a:r>
            <a:br>
              <a:rPr lang="en-US" sz="2800" dirty="0" smtClean="0"/>
            </a:br>
            <a:endParaRPr lang="en-US" sz="2800" dirty="0"/>
          </a:p>
        </p:txBody>
      </p:sp>
      <p:sp>
        <p:nvSpPr>
          <p:cNvPr id="5" name="Rectangle 4"/>
          <p:cNvSpPr/>
          <p:nvPr/>
        </p:nvSpPr>
        <p:spPr>
          <a:xfrm>
            <a:off x="1147665" y="1576873"/>
            <a:ext cx="9311951" cy="1754326"/>
          </a:xfrm>
          <a:prstGeom prst="rect">
            <a:avLst/>
          </a:prstGeom>
        </p:spPr>
        <p:txBody>
          <a:bodyPr wrap="square">
            <a:spAutoFit/>
          </a:bodyPr>
          <a:lstStyle/>
          <a:p>
            <a:pPr>
              <a:lnSpc>
                <a:spcPct val="150000"/>
              </a:lnSpc>
            </a:pPr>
            <a:r>
              <a:rPr lang="en-GB" b="1" dirty="0" smtClean="0">
                <a:latin typeface="Times New Roman" pitchFamily="18" charset="0"/>
                <a:cs typeface="Times New Roman" pitchFamily="18" charset="0"/>
              </a:rPr>
              <a:t>Existing System</a:t>
            </a:r>
            <a:r>
              <a:rPr lang="en-GB" dirty="0" smtClean="0">
                <a:latin typeface="Times New Roman" pitchFamily="18" charset="0"/>
                <a:cs typeface="Times New Roman" pitchFamily="18" charset="0"/>
              </a:rPr>
              <a:t/>
            </a:r>
            <a:br>
              <a:rPr lang="en-GB" dirty="0" smtClean="0">
                <a:latin typeface="Times New Roman" pitchFamily="18" charset="0"/>
                <a:cs typeface="Times New Roman" pitchFamily="18" charset="0"/>
              </a:rPr>
            </a:br>
            <a:r>
              <a:rPr lang="en-GB" dirty="0" smtClean="0">
                <a:latin typeface="Times New Roman" pitchFamily="18" charset="0"/>
                <a:cs typeface="Times New Roman" pitchFamily="18" charset="0"/>
              </a:rPr>
              <a:t>The existing system for house price analysis mostly relies on manual methods, traditional property valuation, and basic statistical tools. Buyers and sellers often depend on brokers, personal judgment, or general market trends without accurate data support.                         </a:t>
            </a:r>
            <a:endParaRPr lang="en-US" dirty="0">
              <a:latin typeface="Times New Roman" pitchFamily="18" charset="0"/>
              <a:cs typeface="Times New Roman" pitchFamily="18" charset="0"/>
            </a:endParaRPr>
          </a:p>
        </p:txBody>
      </p:sp>
      <p:sp>
        <p:nvSpPr>
          <p:cNvPr id="6" name="Rectangle 5"/>
          <p:cNvSpPr/>
          <p:nvPr/>
        </p:nvSpPr>
        <p:spPr>
          <a:xfrm>
            <a:off x="1237860" y="3405302"/>
            <a:ext cx="9501674" cy="2169825"/>
          </a:xfrm>
          <a:prstGeom prst="rect">
            <a:avLst/>
          </a:prstGeom>
        </p:spPr>
        <p:txBody>
          <a:bodyPr wrap="square">
            <a:spAutoFit/>
          </a:bodyPr>
          <a:lstStyle/>
          <a:p>
            <a:pPr>
              <a:lnSpc>
                <a:spcPct val="150000"/>
              </a:lnSpc>
            </a:pPr>
            <a:r>
              <a:rPr lang="en-GB" b="1" dirty="0" smtClean="0">
                <a:latin typeface="Times New Roman" pitchFamily="18" charset="0"/>
                <a:cs typeface="Times New Roman" pitchFamily="18" charset="0"/>
              </a:rPr>
              <a:t>Proposed Solution</a:t>
            </a:r>
            <a:r>
              <a:rPr lang="en-GB" dirty="0" smtClean="0">
                <a:latin typeface="Times New Roman" pitchFamily="18" charset="0"/>
                <a:cs typeface="Times New Roman" pitchFamily="18" charset="0"/>
              </a:rPr>
              <a:t/>
            </a:r>
            <a:br>
              <a:rPr lang="en-GB" dirty="0" smtClean="0">
                <a:latin typeface="Times New Roman" pitchFamily="18" charset="0"/>
                <a:cs typeface="Times New Roman" pitchFamily="18" charset="0"/>
              </a:rPr>
            </a:br>
            <a:r>
              <a:rPr lang="en-GB" dirty="0" smtClean="0">
                <a:latin typeface="Times New Roman" pitchFamily="18" charset="0"/>
                <a:cs typeface="Times New Roman" pitchFamily="18" charset="0"/>
              </a:rPr>
              <a:t>The proposed solution introduces a data-driven, automated system that uses data mining and machine learning techniques to analyze large housing datasets and predict house prices accurately. The system will collect and clean data, identify key factors influencing prices, and apply predictive models such as regression or decision trees to generate reliable price estimates. </a:t>
            </a: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10</a:t>
            </a:fld>
            <a:endParaRPr lang="en-IN"/>
          </a:p>
        </p:txBody>
      </p:sp>
      <p:sp>
        <p:nvSpPr>
          <p:cNvPr id="4" name="Rectangle 3"/>
          <p:cNvSpPr/>
          <p:nvPr/>
        </p:nvSpPr>
        <p:spPr>
          <a:xfrm>
            <a:off x="1004595" y="670545"/>
            <a:ext cx="10757477" cy="954107"/>
          </a:xfrm>
          <a:prstGeom prst="rect">
            <a:avLst/>
          </a:prstGeom>
        </p:spPr>
        <p:txBody>
          <a:bodyPr wrap="square">
            <a:spAutoFit/>
          </a:bodyPr>
          <a:lstStyle/>
          <a:p>
            <a:r>
              <a:rPr lang="en-US" sz="2800" b="1" dirty="0" smtClean="0">
                <a:solidFill>
                  <a:srgbClr val="FF0066"/>
                </a:solidFill>
                <a:latin typeface="Arial" panose="020B0604020202020204" pitchFamily="34" charset="0"/>
                <a:cs typeface="Arial" panose="020B0604020202020204" pitchFamily="34" charset="0"/>
              </a:rPr>
              <a:t> HARDWARE AND SOFTWARE REQUIREMENTS</a:t>
            </a:r>
            <a:br>
              <a:rPr lang="en-US" sz="2800" b="1" dirty="0" smtClean="0">
                <a:solidFill>
                  <a:srgbClr val="FF0066"/>
                </a:solidFill>
                <a:latin typeface="Arial" panose="020B0604020202020204" pitchFamily="34" charset="0"/>
                <a:cs typeface="Arial" panose="020B0604020202020204" pitchFamily="34" charset="0"/>
              </a:rPr>
            </a:br>
            <a:endParaRPr lang="en-US" sz="2800" dirty="0"/>
          </a:p>
        </p:txBody>
      </p:sp>
      <p:sp>
        <p:nvSpPr>
          <p:cNvPr id="5" name="Rectangle 4"/>
          <p:cNvSpPr/>
          <p:nvPr/>
        </p:nvSpPr>
        <p:spPr>
          <a:xfrm>
            <a:off x="1125893" y="1575042"/>
            <a:ext cx="8456645" cy="5493812"/>
          </a:xfrm>
          <a:prstGeom prst="rect">
            <a:avLst/>
          </a:prstGeom>
        </p:spPr>
        <p:txBody>
          <a:bodyPr wrap="square">
            <a:spAutoFit/>
          </a:bodyPr>
          <a:lstStyle/>
          <a:p>
            <a:pPr algn="just">
              <a:lnSpc>
                <a:spcPct val="150000"/>
              </a:lnSpc>
            </a:pPr>
            <a:r>
              <a:rPr lang="en-US" b="1" dirty="0" smtClean="0">
                <a:latin typeface="Times New Roman" pitchFamily="18" charset="0"/>
                <a:cs typeface="Times New Roman" pitchFamily="18" charset="0"/>
              </a:rPr>
              <a:t>Hardware Requirements</a:t>
            </a:r>
          </a:p>
          <a:p>
            <a:pPr algn="just">
              <a:lnSpc>
                <a:spcPct val="150000"/>
              </a:lnSpc>
              <a:buFont typeface="Wingdings" pitchFamily="2" charset="2"/>
              <a:buChar char="Ø"/>
            </a:pPr>
            <a:r>
              <a:rPr lang="en-US" dirty="0" smtClean="0">
                <a:latin typeface="Times New Roman" pitchFamily="18" charset="0"/>
                <a:cs typeface="Times New Roman" pitchFamily="18" charset="0"/>
              </a:rPr>
              <a:t> Computer or laptop with minimum i3 processor (i5 recommended).</a:t>
            </a:r>
          </a:p>
          <a:p>
            <a:pPr algn="just">
              <a:lnSpc>
                <a:spcPct val="150000"/>
              </a:lnSpc>
              <a:buFont typeface="Wingdings" pitchFamily="2" charset="2"/>
              <a:buChar char="Ø"/>
            </a:pPr>
            <a:r>
              <a:rPr lang="en-US" dirty="0" smtClean="0">
                <a:latin typeface="Times New Roman" pitchFamily="18" charset="0"/>
                <a:cs typeface="Times New Roman" pitchFamily="18" charset="0"/>
              </a:rPr>
              <a:t> At least 20 GB free storage space for project files and datasets.</a:t>
            </a:r>
          </a:p>
          <a:p>
            <a:pPr algn="just">
              <a:lnSpc>
                <a:spcPct val="150000"/>
              </a:lnSpc>
              <a:buFont typeface="Wingdings" pitchFamily="2" charset="2"/>
              <a:buChar char="Ø"/>
            </a:pPr>
            <a:r>
              <a:rPr lang="en-US" dirty="0" smtClean="0">
                <a:latin typeface="Times New Roman" pitchFamily="18" charset="0"/>
                <a:cs typeface="Times New Roman" pitchFamily="18" charset="0"/>
              </a:rPr>
              <a:t> Stable internet connection to download libraries and datasets.</a:t>
            </a:r>
          </a:p>
          <a:p>
            <a:pPr algn="just">
              <a:lnSpc>
                <a:spcPct val="150000"/>
              </a:lnSpc>
            </a:pPr>
            <a:r>
              <a:rPr lang="en-US" b="1" dirty="0" smtClean="0">
                <a:latin typeface="Times New Roman" pitchFamily="18" charset="0"/>
                <a:cs typeface="Times New Roman" pitchFamily="18" charset="0"/>
              </a:rPr>
              <a:t>Software Requirements</a:t>
            </a:r>
          </a:p>
          <a:p>
            <a:pPr algn="just">
              <a:lnSpc>
                <a:spcPct val="150000"/>
              </a:lnSpc>
              <a:buFont typeface="Wingdings" pitchFamily="2" charset="2"/>
              <a:buChar char="Ø"/>
            </a:pPr>
            <a:r>
              <a:rPr lang="en-US" dirty="0" smtClean="0">
                <a:latin typeface="Times New Roman" pitchFamily="18" charset="0"/>
                <a:cs typeface="Times New Roman" pitchFamily="18" charset="0"/>
              </a:rPr>
              <a:t> Operating system: Windows, </a:t>
            </a:r>
            <a:r>
              <a:rPr lang="en-US" dirty="0" err="1" smtClean="0">
                <a:latin typeface="Times New Roman" pitchFamily="18" charset="0"/>
                <a:cs typeface="Times New Roman" pitchFamily="18" charset="0"/>
              </a:rPr>
              <a:t>macOS</a:t>
            </a:r>
            <a:r>
              <a:rPr lang="en-US" dirty="0" smtClean="0">
                <a:latin typeface="Times New Roman" pitchFamily="18" charset="0"/>
                <a:cs typeface="Times New Roman" pitchFamily="18" charset="0"/>
              </a:rPr>
              <a:t>, or Linux.</a:t>
            </a:r>
          </a:p>
          <a:p>
            <a:pPr algn="just">
              <a:lnSpc>
                <a:spcPct val="150000"/>
              </a:lnSpc>
              <a:buFont typeface="Wingdings" pitchFamily="2" charset="2"/>
              <a:buChar char="Ø"/>
            </a:pPr>
            <a:r>
              <a:rPr lang="en-US" dirty="0" smtClean="0">
                <a:latin typeface="Times New Roman" pitchFamily="18" charset="0"/>
                <a:cs typeface="Times New Roman" pitchFamily="18" charset="0"/>
              </a:rPr>
              <a:t> Python latest version installed on the system.</a:t>
            </a:r>
          </a:p>
          <a:p>
            <a:pPr algn="just">
              <a:lnSpc>
                <a:spcPct val="150000"/>
              </a:lnSpc>
              <a:buFont typeface="Wingdings" pitchFamily="2" charset="2"/>
              <a:buChar char="Ø"/>
            </a:pPr>
            <a:r>
              <a:rPr lang="en-US" dirty="0" smtClean="0">
                <a:latin typeface="Times New Roman" pitchFamily="18" charset="0"/>
                <a:cs typeface="Times New Roman" pitchFamily="18" charset="0"/>
              </a:rPr>
              <a:t> Code editor or IDE like VS Code, </a:t>
            </a:r>
            <a:r>
              <a:rPr lang="en-US" dirty="0" err="1" smtClean="0">
                <a:latin typeface="Times New Roman" pitchFamily="18" charset="0"/>
                <a:cs typeface="Times New Roman" pitchFamily="18" charset="0"/>
              </a:rPr>
              <a:t>PyCharm</a:t>
            </a:r>
            <a:r>
              <a:rPr lang="en-US" dirty="0" smtClean="0">
                <a:latin typeface="Times New Roman" pitchFamily="18" charset="0"/>
                <a:cs typeface="Times New Roman" pitchFamily="18" charset="0"/>
              </a:rPr>
              <a:t>, or </a:t>
            </a:r>
            <a:r>
              <a:rPr lang="en-US" dirty="0" err="1" smtClean="0">
                <a:latin typeface="Times New Roman" pitchFamily="18" charset="0"/>
                <a:cs typeface="Times New Roman" pitchFamily="18" charset="0"/>
              </a:rPr>
              <a:t>Jupyter</a:t>
            </a:r>
            <a:r>
              <a:rPr lang="en-US" dirty="0" smtClean="0">
                <a:latin typeface="Times New Roman" pitchFamily="18" charset="0"/>
                <a:cs typeface="Times New Roman" pitchFamily="18" charset="0"/>
              </a:rPr>
              <a:t> Notebook.</a:t>
            </a:r>
          </a:p>
          <a:p>
            <a:pPr algn="just">
              <a:lnSpc>
                <a:spcPct val="150000"/>
              </a:lnSpc>
              <a:buFont typeface="Wingdings" pitchFamily="2" charset="2"/>
              <a:buChar char="Ø"/>
            </a:pPr>
            <a:r>
              <a:rPr lang="en-US" dirty="0" smtClean="0">
                <a:latin typeface="Times New Roman" pitchFamily="18" charset="0"/>
                <a:cs typeface="Times New Roman" pitchFamily="18" charset="0"/>
              </a:rPr>
              <a:t> Python libraries such as pandas,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seaborn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scikit</a:t>
            </a:r>
            <a:r>
              <a:rPr lang="en-US" dirty="0" smtClean="0">
                <a:latin typeface="Times New Roman" pitchFamily="18" charset="0"/>
                <a:cs typeface="Times New Roman" pitchFamily="18" charset="0"/>
              </a:rPr>
              <a:t>-learn, </a:t>
            </a:r>
            <a:r>
              <a:rPr lang="en-US" dirty="0" err="1" smtClean="0">
                <a:latin typeface="Times New Roman" pitchFamily="18" charset="0"/>
                <a:cs typeface="Times New Roman" pitchFamily="18" charset="0"/>
              </a:rPr>
              <a:t>plotly</a:t>
            </a:r>
            <a:r>
              <a:rPr lang="en-US" dirty="0" smtClean="0">
                <a:latin typeface="Times New Roman" pitchFamily="18" charset="0"/>
                <a:cs typeface="Times New Roman" pitchFamily="18" charset="0"/>
              </a:rPr>
              <a:t>.</a:t>
            </a:r>
          </a:p>
          <a:p>
            <a:pPr algn="just">
              <a:lnSpc>
                <a:spcPct val="150000"/>
              </a:lnSpc>
              <a:buFont typeface="Wingdings" pitchFamily="2" charset="2"/>
              <a:buChar char="Ø"/>
            </a:pPr>
            <a:r>
              <a:rPr lang="en-US" dirty="0" smtClean="0">
                <a:latin typeface="Times New Roman" pitchFamily="18" charset="0"/>
                <a:cs typeface="Times New Roman" pitchFamily="18" charset="0"/>
              </a:rPr>
              <a:t> CSV files or </a:t>
            </a:r>
            <a:r>
              <a:rPr lang="en-US" dirty="0" err="1" smtClean="0">
                <a:latin typeface="Times New Roman" pitchFamily="18" charset="0"/>
                <a:cs typeface="Times New Roman" pitchFamily="18" charset="0"/>
              </a:rPr>
              <a:t>MySQL</a:t>
            </a:r>
            <a:r>
              <a:rPr lang="en-US" dirty="0" smtClean="0">
                <a:latin typeface="Times New Roman" pitchFamily="18" charset="0"/>
                <a:cs typeface="Times New Roman" pitchFamily="18" charset="0"/>
              </a:rPr>
              <a:t> database if needed for storing data.</a:t>
            </a:r>
          </a:p>
          <a:p>
            <a:pPr algn="just">
              <a:lnSpc>
                <a:spcPct val="150000"/>
              </a:lnSpc>
              <a:buFont typeface="Wingdings" pitchFamily="2" charset="2"/>
              <a:buChar char="Ø"/>
            </a:pPr>
            <a:endParaRPr lang="en-US" dirty="0" smtClean="0"/>
          </a:p>
          <a:p>
            <a:r>
              <a:rPr lang="en-US" dirty="0" smtClean="0"/>
              <a:t/>
            </a:r>
            <a:br>
              <a:rPr lang="en-US" dirty="0" smtClean="0"/>
            </a:b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0066"/>
                </a:solidFill>
                <a:latin typeface="Arial"/>
                <a:cs typeface="Arial"/>
                <a:sym typeface="Arial"/>
              </a:rPr>
              <a:t>         PROPOSED ARCHITECTURE      </a:t>
            </a:r>
            <a:endParaRPr lang="en-IN" sz="2800" dirty="0"/>
          </a:p>
        </p:txBody>
      </p:sp>
      <p:sp>
        <p:nvSpPr>
          <p:cNvPr id="4" name="Footer Placeholder 3"/>
          <p:cNvSpPr>
            <a:spLocks noGrp="1"/>
          </p:cNvSpPr>
          <p:nvPr>
            <p:ph type="ftr" sz="quarter" idx="11"/>
          </p:nvPr>
        </p:nvSpPr>
        <p:spPr/>
        <p:txBody>
          <a:bodyPr/>
          <a:lstStyle/>
          <a:p>
            <a:r>
              <a:rPr lang="en-IN" dirty="0" smtClean="0"/>
              <a:t>ITC1303 – DATA MINING TECHNIQUES</a:t>
            </a:r>
            <a:endParaRPr lang="en-IN" dirty="0"/>
          </a:p>
        </p:txBody>
      </p:sp>
      <p:sp>
        <p:nvSpPr>
          <p:cNvPr id="5" name="Slide Number Placeholder 4"/>
          <p:cNvSpPr>
            <a:spLocks noGrp="1"/>
          </p:cNvSpPr>
          <p:nvPr>
            <p:ph type="sldNum" sz="quarter" idx="12"/>
          </p:nvPr>
        </p:nvSpPr>
        <p:spPr/>
        <p:txBody>
          <a:bodyPr/>
          <a:lstStyle/>
          <a:p>
            <a:fld id="{D0CD2EA7-D846-4DD1-862F-6C9076468EAA}" type="slidenum">
              <a:rPr lang="en-IN" smtClean="0"/>
              <a:pPr/>
              <a:t>11</a:t>
            </a:fld>
            <a:endParaRPr lang="en-IN"/>
          </a:p>
        </p:txBody>
      </p:sp>
      <p:pic>
        <p:nvPicPr>
          <p:cNvPr id="8" name="Content Placeholder 7"/>
          <p:cNvPicPr>
            <a:picLocks noGrp="1" noChangeAspect="1" noChangeArrowheads="1"/>
          </p:cNvPicPr>
          <p:nvPr>
            <p:ph idx="1"/>
          </p:nvPr>
        </p:nvPicPr>
        <p:blipFill>
          <a:blip r:embed="rId2"/>
          <a:srcRect/>
          <a:stretch>
            <a:fillRect/>
          </a:stretch>
        </p:blipFill>
        <p:spPr bwMode="auto">
          <a:xfrm>
            <a:off x="2581094" y="1892985"/>
            <a:ext cx="7029811" cy="4216617"/>
          </a:xfrm>
          <a:prstGeom prst="rect">
            <a:avLst/>
          </a:prstGeom>
          <a:noFill/>
          <a:ln w="9525">
            <a:noFill/>
            <a:miter lim="800000"/>
            <a:headEnd/>
            <a:tailEnd/>
          </a:ln>
          <a:effectLst/>
        </p:spPr>
      </p:pic>
    </p:spTree>
    <p:extLst>
      <p:ext uri="{BB962C8B-B14F-4D97-AF65-F5344CB8AC3E}">
        <p14:creationId xmlns="" xmlns:p14="http://schemas.microsoft.com/office/powerpoint/2010/main" val="4241577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0066"/>
                </a:solidFill>
                <a:latin typeface="Arial"/>
                <a:cs typeface="Arial"/>
                <a:sym typeface="Arial"/>
              </a:rPr>
              <a:t>MODULES INVOLVED</a:t>
            </a:r>
            <a:endParaRPr lang="en-IN" sz="2800" dirty="0"/>
          </a:p>
        </p:txBody>
      </p:sp>
      <p:sp>
        <p:nvSpPr>
          <p:cNvPr id="3" name="Content Placeholder 2"/>
          <p:cNvSpPr>
            <a:spLocks noGrp="1"/>
          </p:cNvSpPr>
          <p:nvPr>
            <p:ph idx="1"/>
          </p:nvPr>
        </p:nvSpPr>
        <p:spPr>
          <a:xfrm>
            <a:off x="838200" y="1825625"/>
            <a:ext cx="10712116" cy="4351338"/>
          </a:xfrm>
        </p:spPr>
        <p:txBody>
          <a:bodyPr>
            <a:normAutofit fontScale="85000" lnSpcReduction="10000"/>
          </a:bodyPr>
          <a:lstStyle/>
          <a:p>
            <a:pPr>
              <a:lnSpc>
                <a:spcPct val="110000"/>
              </a:lnSpc>
              <a:buFont typeface="Wingdings" pitchFamily="2" charset="2"/>
              <a:buChar char="Ø"/>
            </a:pPr>
            <a:r>
              <a:rPr lang="en-US" b="1" dirty="0" smtClean="0">
                <a:latin typeface="Times New Roman" pitchFamily="18" charset="0"/>
                <a:cs typeface="Times New Roman" pitchFamily="18" charset="0"/>
              </a:rPr>
              <a:t>User Authentication Module</a:t>
            </a:r>
            <a:r>
              <a:rPr lang="en-US" dirty="0" smtClean="0">
                <a:latin typeface="Times New Roman" pitchFamily="18" charset="0"/>
                <a:cs typeface="Times New Roman" pitchFamily="18" charset="0"/>
              </a:rPr>
              <a:t> – Provides secure login and access control.</a:t>
            </a:r>
          </a:p>
          <a:p>
            <a:pPr>
              <a:lnSpc>
                <a:spcPct val="110000"/>
              </a:lnSpc>
              <a:buFont typeface="Wingdings" pitchFamily="2" charset="2"/>
              <a:buChar char="Ø"/>
            </a:pPr>
            <a:r>
              <a:rPr lang="en-US" b="1" dirty="0" smtClean="0">
                <a:latin typeface="Times New Roman" pitchFamily="18" charset="0"/>
                <a:cs typeface="Times New Roman" pitchFamily="18" charset="0"/>
              </a:rPr>
              <a:t>Data pre processing Module</a:t>
            </a:r>
            <a:r>
              <a:rPr lang="en-US" dirty="0" smtClean="0">
                <a:latin typeface="Times New Roman" pitchFamily="18" charset="0"/>
                <a:cs typeface="Times New Roman" pitchFamily="18" charset="0"/>
              </a:rPr>
              <a:t> – Handles data collection, cleaning, and organization.</a:t>
            </a:r>
          </a:p>
          <a:p>
            <a:pPr>
              <a:lnSpc>
                <a:spcPct val="110000"/>
              </a:lnSpc>
              <a:buFont typeface="Wingdings" pitchFamily="2" charset="2"/>
              <a:buChar char="Ø"/>
            </a:pPr>
            <a:r>
              <a:rPr lang="en-US" b="1" dirty="0" smtClean="0">
                <a:latin typeface="Times New Roman" pitchFamily="18" charset="0"/>
                <a:cs typeface="Times New Roman" pitchFamily="18" charset="0"/>
              </a:rPr>
              <a:t>Analytics/Processing Module</a:t>
            </a:r>
            <a:r>
              <a:rPr lang="en-US" dirty="0" smtClean="0">
                <a:latin typeface="Times New Roman" pitchFamily="18" charset="0"/>
                <a:cs typeface="Times New Roman" pitchFamily="18" charset="0"/>
              </a:rPr>
              <a:t> – Implements algorithms and models for analysis.</a:t>
            </a:r>
          </a:p>
          <a:p>
            <a:pPr>
              <a:lnSpc>
                <a:spcPct val="110000"/>
              </a:lnSpc>
              <a:buFont typeface="Wingdings" pitchFamily="2" charset="2"/>
              <a:buChar char="Ø"/>
            </a:pPr>
            <a:r>
              <a:rPr lang="en-US" b="1" dirty="0" smtClean="0">
                <a:latin typeface="Times New Roman" pitchFamily="18" charset="0"/>
                <a:cs typeface="Times New Roman" pitchFamily="18" charset="0"/>
              </a:rPr>
              <a:t>Visualization Module</a:t>
            </a:r>
            <a:r>
              <a:rPr lang="en-US" dirty="0" smtClean="0">
                <a:latin typeface="Times New Roman" pitchFamily="18" charset="0"/>
                <a:cs typeface="Times New Roman" pitchFamily="18" charset="0"/>
              </a:rPr>
              <a:t> – Generates graphs, charts, and dashboards for insights.</a:t>
            </a:r>
          </a:p>
          <a:p>
            <a:pPr>
              <a:lnSpc>
                <a:spcPct val="110000"/>
              </a:lnSpc>
              <a:buFont typeface="Wingdings" pitchFamily="2" charset="2"/>
              <a:buChar char="Ø"/>
            </a:pPr>
            <a:r>
              <a:rPr lang="en-US" b="1" dirty="0" smtClean="0">
                <a:latin typeface="Times New Roman" pitchFamily="18" charset="0"/>
                <a:cs typeface="Times New Roman" pitchFamily="18" charset="0"/>
              </a:rPr>
              <a:t>Reporting Module</a:t>
            </a:r>
            <a:r>
              <a:rPr lang="en-US" dirty="0" smtClean="0">
                <a:latin typeface="Times New Roman" pitchFamily="18" charset="0"/>
                <a:cs typeface="Times New Roman" pitchFamily="18" charset="0"/>
              </a:rPr>
              <a:t> – Summarizes results and exports them in different formats.</a:t>
            </a:r>
          </a:p>
          <a:p>
            <a:pPr>
              <a:lnSpc>
                <a:spcPct val="110000"/>
              </a:lnSpc>
              <a:buFont typeface="Wingdings" pitchFamily="2" charset="2"/>
              <a:buChar char="Ø"/>
            </a:pPr>
            <a:r>
              <a:rPr lang="en-US" b="1" dirty="0" smtClean="0">
                <a:latin typeface="Times New Roman" pitchFamily="18" charset="0"/>
                <a:cs typeface="Times New Roman" pitchFamily="18" charset="0"/>
              </a:rPr>
              <a:t>Administration Module</a:t>
            </a:r>
            <a:r>
              <a:rPr lang="en-US" dirty="0" smtClean="0">
                <a:latin typeface="Times New Roman" pitchFamily="18" charset="0"/>
                <a:cs typeface="Times New Roman" pitchFamily="18" charset="0"/>
              </a:rPr>
              <a:t> – Manages roles, permissions, and system monitoring.</a:t>
            </a:r>
          </a:p>
          <a:p>
            <a:pPr>
              <a:buNone/>
            </a:pPr>
            <a:endParaRPr lang="en-IN" dirty="0"/>
          </a:p>
        </p:txBody>
      </p:sp>
      <p:sp>
        <p:nvSpPr>
          <p:cNvPr id="4" name="Footer Placeholder 3"/>
          <p:cNvSpPr>
            <a:spLocks noGrp="1"/>
          </p:cNvSpPr>
          <p:nvPr>
            <p:ph type="ftr" sz="quarter" idx="11"/>
          </p:nvPr>
        </p:nvSpPr>
        <p:spPr/>
        <p:txBody>
          <a:bodyPr/>
          <a:lstStyle/>
          <a:p>
            <a:r>
              <a:rPr lang="en-IN" dirty="0" smtClean="0"/>
              <a:t>ITC1303 – DATA MINING TECHNIQUES</a:t>
            </a:r>
            <a:endParaRPr lang="en-IN" dirty="0"/>
          </a:p>
        </p:txBody>
      </p:sp>
      <p:sp>
        <p:nvSpPr>
          <p:cNvPr id="5" name="Slide Number Placeholder 4"/>
          <p:cNvSpPr>
            <a:spLocks noGrp="1"/>
          </p:cNvSpPr>
          <p:nvPr>
            <p:ph type="sldNum" sz="quarter" idx="12"/>
          </p:nvPr>
        </p:nvSpPr>
        <p:spPr/>
        <p:txBody>
          <a:bodyPr/>
          <a:lstStyle/>
          <a:p>
            <a:fld id="{D0CD2EA7-D846-4DD1-862F-6C9076468EAA}" type="slidenum">
              <a:rPr lang="en-IN" smtClean="0"/>
              <a:pPr/>
              <a:t>12</a:t>
            </a:fld>
            <a:endParaRPr lang="en-IN"/>
          </a:p>
        </p:txBody>
      </p:sp>
    </p:spTree>
    <p:extLst>
      <p:ext uri="{BB962C8B-B14F-4D97-AF65-F5344CB8AC3E}">
        <p14:creationId xmlns="" xmlns:p14="http://schemas.microsoft.com/office/powerpoint/2010/main" val="3323614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66"/>
                </a:solidFill>
                <a:latin typeface="Arial" panose="020B0604020202020204" pitchFamily="34" charset="0"/>
                <a:cs typeface="Arial" panose="020B0604020202020204" pitchFamily="34" charset="0"/>
              </a:rPr>
              <a:t/>
            </a:r>
            <a:br>
              <a:rPr lang="en-US" b="1" dirty="0" smtClean="0">
                <a:solidFill>
                  <a:srgbClr val="FF0066"/>
                </a:solidFill>
                <a:latin typeface="Arial" panose="020B0604020202020204" pitchFamily="34" charset="0"/>
                <a:cs typeface="Arial" panose="020B0604020202020204" pitchFamily="34" charset="0"/>
              </a:rPr>
            </a:br>
            <a:r>
              <a:rPr lang="en-US" b="1" dirty="0" smtClean="0">
                <a:solidFill>
                  <a:srgbClr val="FF0066"/>
                </a:solidFill>
                <a:latin typeface="Arial" panose="020B0604020202020204" pitchFamily="34" charset="0"/>
                <a:cs typeface="Arial" panose="020B0604020202020204" pitchFamily="34" charset="0"/>
              </a:rPr>
              <a:t>   </a:t>
            </a:r>
            <a:r>
              <a:rPr lang="en-US" sz="3100" b="1" dirty="0" smtClean="0">
                <a:solidFill>
                  <a:srgbClr val="FF0066"/>
                </a:solidFill>
                <a:latin typeface="Arial" panose="020B0604020202020204" pitchFamily="34" charset="0"/>
                <a:cs typeface="Arial" panose="020B0604020202020204" pitchFamily="34" charset="0"/>
              </a:rPr>
              <a:t>EXPERIMENTAL RESULTS </a:t>
            </a:r>
            <a:br>
              <a:rPr lang="en-US" sz="3100" b="1" dirty="0" smtClean="0">
                <a:solidFill>
                  <a:srgbClr val="FF0066"/>
                </a:solidFill>
                <a:latin typeface="Arial" panose="020B0604020202020204" pitchFamily="34" charset="0"/>
                <a:cs typeface="Arial" panose="020B0604020202020204" pitchFamily="34" charset="0"/>
              </a:rPr>
            </a:br>
            <a:r>
              <a:rPr lang="en-US" dirty="0" smtClean="0"/>
              <a:t/>
            </a:r>
            <a:br>
              <a:rPr lang="en-US" dirty="0" smtClean="0"/>
            </a:br>
            <a:endParaRPr lang="en-US" dirty="0"/>
          </a:p>
        </p:txBody>
      </p:sp>
      <p:sp>
        <p:nvSpPr>
          <p:cNvPr id="4" name="Footer Placeholder 3"/>
          <p:cNvSpPr>
            <a:spLocks noGrp="1"/>
          </p:cNvSpPr>
          <p:nvPr>
            <p:ph type="ftr" sz="quarter" idx="11"/>
          </p:nvPr>
        </p:nvSpPr>
        <p:spPr/>
        <p:txBody>
          <a:bodyPr/>
          <a:lstStyle/>
          <a:p>
            <a:r>
              <a:rPr lang="en-IN" dirty="0" smtClean="0"/>
              <a:t>ITC1303 – DATA MINING TECHNIQUES</a:t>
            </a:r>
          </a:p>
          <a:p>
            <a:endParaRPr lang="en-IN" dirty="0"/>
          </a:p>
        </p:txBody>
      </p:sp>
      <p:sp>
        <p:nvSpPr>
          <p:cNvPr id="5" name="Slide Number Placeholder 4"/>
          <p:cNvSpPr>
            <a:spLocks noGrp="1"/>
          </p:cNvSpPr>
          <p:nvPr>
            <p:ph type="sldNum" sz="quarter" idx="12"/>
          </p:nvPr>
        </p:nvSpPr>
        <p:spPr/>
        <p:txBody>
          <a:bodyPr/>
          <a:lstStyle/>
          <a:p>
            <a:fld id="{D0CD2EA7-D846-4DD1-862F-6C9076468EAA}" type="slidenum">
              <a:rPr lang="en-IN" smtClean="0"/>
              <a:pPr/>
              <a:t>13</a:t>
            </a:fld>
            <a:endParaRPr lang="en-IN"/>
          </a:p>
        </p:txBody>
      </p:sp>
      <p:sp>
        <p:nvSpPr>
          <p:cNvPr id="6" name="Content Placeholder 5"/>
          <p:cNvSpPr>
            <a:spLocks noGrp="1"/>
          </p:cNvSpPr>
          <p:nvPr>
            <p:ph idx="1"/>
          </p:nvPr>
        </p:nvSpPr>
        <p:spPr>
          <a:xfrm>
            <a:off x="1380930" y="1716833"/>
            <a:ext cx="7361853" cy="4460130"/>
          </a:xfrm>
        </p:spPr>
        <p:txBody>
          <a:bodyPr/>
          <a:lstStyle/>
          <a:p>
            <a:endParaRPr lang="en-US" dirty="0"/>
          </a:p>
        </p:txBody>
      </p:sp>
      <p:pic>
        <p:nvPicPr>
          <p:cNvPr id="3" name="Picture 2"/>
          <p:cNvPicPr>
            <a:picLocks noChangeAspect="1" noChangeArrowheads="1"/>
          </p:cNvPicPr>
          <p:nvPr/>
        </p:nvPicPr>
        <p:blipFill>
          <a:blip r:embed="rId2"/>
          <a:srcRect/>
          <a:stretch>
            <a:fillRect/>
          </a:stretch>
        </p:blipFill>
        <p:spPr bwMode="auto">
          <a:xfrm>
            <a:off x="1362268" y="1386038"/>
            <a:ext cx="9899290" cy="494738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14</a:t>
            </a:fld>
            <a:endParaRPr lang="en-IN"/>
          </a:p>
        </p:txBody>
      </p:sp>
      <p:pic>
        <p:nvPicPr>
          <p:cNvPr id="4" name="Picture 2"/>
          <p:cNvPicPr>
            <a:picLocks noChangeAspect="1" noChangeArrowheads="1"/>
          </p:cNvPicPr>
          <p:nvPr/>
        </p:nvPicPr>
        <p:blipFill>
          <a:blip r:embed="rId2"/>
          <a:srcRect/>
          <a:stretch>
            <a:fillRect/>
          </a:stretch>
        </p:blipFill>
        <p:spPr bwMode="auto">
          <a:xfrm>
            <a:off x="518683" y="2094280"/>
            <a:ext cx="11056776" cy="4077477"/>
          </a:xfrm>
          <a:prstGeom prst="rect">
            <a:avLst/>
          </a:prstGeom>
          <a:noFill/>
          <a:ln w="9525">
            <a:noFill/>
            <a:miter lim="800000"/>
            <a:headEnd/>
            <a:tailEnd/>
          </a:ln>
          <a:effectLst/>
        </p:spPr>
      </p:pic>
      <p:sp>
        <p:nvSpPr>
          <p:cNvPr id="7" name="Rectangle 6"/>
          <p:cNvSpPr/>
          <p:nvPr/>
        </p:nvSpPr>
        <p:spPr>
          <a:xfrm>
            <a:off x="983577" y="732140"/>
            <a:ext cx="5475153" cy="584775"/>
          </a:xfrm>
          <a:prstGeom prst="rect">
            <a:avLst/>
          </a:prstGeom>
        </p:spPr>
        <p:txBody>
          <a:bodyPr wrap="none">
            <a:spAutoFit/>
          </a:bodyPr>
          <a:lstStyle/>
          <a:p>
            <a:r>
              <a:rPr lang="en-US" sz="3200" b="1" dirty="0" smtClean="0">
                <a:solidFill>
                  <a:srgbClr val="FF0066"/>
                </a:solidFill>
                <a:latin typeface="Arial" panose="020B0604020202020204" pitchFamily="34" charset="0"/>
                <a:cs typeface="Arial" panose="020B0604020202020204" pitchFamily="34" charset="0"/>
              </a:rPr>
              <a:t>EXPERIMENTAL RESULTS </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15</a:t>
            </a:fld>
            <a:endParaRPr lang="en-IN"/>
          </a:p>
        </p:txBody>
      </p:sp>
      <p:pic>
        <p:nvPicPr>
          <p:cNvPr id="7170" name="Picture 2" descr="C:\Users\Windows\Pictures\Screenshots\Screenshot 2025-11-17 155750.png"/>
          <p:cNvPicPr>
            <a:picLocks noChangeAspect="1" noChangeArrowheads="1"/>
          </p:cNvPicPr>
          <p:nvPr/>
        </p:nvPicPr>
        <p:blipFill>
          <a:blip r:embed="rId2" cstate="print"/>
          <a:srcRect/>
          <a:stretch>
            <a:fillRect/>
          </a:stretch>
        </p:blipFill>
        <p:spPr bwMode="auto">
          <a:xfrm>
            <a:off x="804587" y="1347536"/>
            <a:ext cx="4952063" cy="3696101"/>
          </a:xfrm>
          <a:prstGeom prst="rect">
            <a:avLst/>
          </a:prstGeom>
          <a:noFill/>
        </p:spPr>
      </p:pic>
      <p:pic>
        <p:nvPicPr>
          <p:cNvPr id="7171" name="Picture 3"/>
          <p:cNvPicPr>
            <a:picLocks noChangeAspect="1" noChangeArrowheads="1"/>
          </p:cNvPicPr>
          <p:nvPr/>
        </p:nvPicPr>
        <p:blipFill>
          <a:blip r:embed="rId3"/>
          <a:srcRect/>
          <a:stretch>
            <a:fillRect/>
          </a:stretch>
        </p:blipFill>
        <p:spPr bwMode="auto">
          <a:xfrm>
            <a:off x="6089385" y="1327306"/>
            <a:ext cx="5669478" cy="4245721"/>
          </a:xfrm>
          <a:prstGeom prst="rect">
            <a:avLst/>
          </a:prstGeom>
          <a:noFill/>
          <a:ln w="9525">
            <a:noFill/>
            <a:miter lim="800000"/>
            <a:headEnd/>
            <a:tailEnd/>
          </a:ln>
          <a:effectLst/>
        </p:spPr>
      </p:pic>
      <p:sp>
        <p:nvSpPr>
          <p:cNvPr id="7" name="TextBox 6"/>
          <p:cNvSpPr txBox="1"/>
          <p:nvPr/>
        </p:nvSpPr>
        <p:spPr>
          <a:xfrm>
            <a:off x="895149" y="5390147"/>
            <a:ext cx="4417996" cy="369332"/>
          </a:xfrm>
          <a:prstGeom prst="rect">
            <a:avLst/>
          </a:prstGeom>
          <a:noFill/>
        </p:spPr>
        <p:txBody>
          <a:bodyPr wrap="square" rtlCol="0">
            <a:spAutoFit/>
          </a:bodyPr>
          <a:lstStyle/>
          <a:p>
            <a:r>
              <a:rPr lang="en-GB" dirty="0" smtClean="0"/>
              <a:t>HEAT MAP(</a:t>
            </a:r>
            <a:r>
              <a:rPr lang="en-US" dirty="0" smtClean="0"/>
              <a:t>DATASET OF HOUSE)</a:t>
            </a:r>
            <a:endParaRPr lang="en-US" dirty="0"/>
          </a:p>
        </p:txBody>
      </p:sp>
      <p:sp>
        <p:nvSpPr>
          <p:cNvPr id="8" name="TextBox 7"/>
          <p:cNvSpPr txBox="1"/>
          <p:nvPr/>
        </p:nvSpPr>
        <p:spPr>
          <a:xfrm>
            <a:off x="7103444" y="5303520"/>
            <a:ext cx="4292867" cy="369332"/>
          </a:xfrm>
          <a:prstGeom prst="rect">
            <a:avLst/>
          </a:prstGeom>
          <a:noFill/>
        </p:spPr>
        <p:txBody>
          <a:bodyPr wrap="square" rtlCol="0">
            <a:spAutoFit/>
          </a:bodyPr>
          <a:lstStyle/>
          <a:p>
            <a:r>
              <a:rPr lang="en-GB" dirty="0" smtClean="0"/>
              <a:t>PIE CHART(</a:t>
            </a:r>
            <a:r>
              <a:rPr lang="en-US" dirty="0" smtClean="0"/>
              <a:t>BEDROOM DISTRIBUTION)</a:t>
            </a:r>
            <a:endParaRPr lang="en-US" dirty="0"/>
          </a:p>
        </p:txBody>
      </p:sp>
      <p:sp>
        <p:nvSpPr>
          <p:cNvPr id="9" name="Rectangle 8"/>
          <p:cNvSpPr/>
          <p:nvPr/>
        </p:nvSpPr>
        <p:spPr>
          <a:xfrm>
            <a:off x="683393" y="366381"/>
            <a:ext cx="5515275" cy="1569660"/>
          </a:xfrm>
          <a:prstGeom prst="rect">
            <a:avLst/>
          </a:prstGeom>
        </p:spPr>
        <p:txBody>
          <a:bodyPr wrap="square">
            <a:spAutoFit/>
          </a:bodyPr>
          <a:lstStyle/>
          <a:p>
            <a:r>
              <a:rPr lang="en-US" sz="2400" b="1" dirty="0" smtClean="0">
                <a:solidFill>
                  <a:srgbClr val="FF0066"/>
                </a:solidFill>
                <a:latin typeface="Arial" panose="020B0604020202020204" pitchFamily="34" charset="0"/>
                <a:cs typeface="Arial" panose="020B0604020202020204" pitchFamily="34" charset="0"/>
              </a:rPr>
              <a:t>EXPERIMENTAL RESULTS</a:t>
            </a:r>
          </a:p>
          <a:p>
            <a:endParaRPr lang="en-GB" b="1" dirty="0" smtClean="0">
              <a:solidFill>
                <a:srgbClr val="FF0066"/>
              </a:solidFill>
              <a:latin typeface="Arial" panose="020B0604020202020204" pitchFamily="34" charset="0"/>
              <a:cs typeface="Arial" panose="020B0604020202020204" pitchFamily="34" charset="0"/>
            </a:endParaRPr>
          </a:p>
          <a:p>
            <a:endParaRPr lang="en-GB" b="1" dirty="0" smtClean="0">
              <a:solidFill>
                <a:srgbClr val="FF0066"/>
              </a:solidFill>
              <a:latin typeface="Arial" panose="020B0604020202020204" pitchFamily="34" charset="0"/>
              <a:cs typeface="Arial" panose="020B0604020202020204" pitchFamily="34" charset="0"/>
            </a:endParaRPr>
          </a:p>
          <a:p>
            <a:endParaRPr lang="en-GB" b="1" dirty="0" smtClean="0">
              <a:solidFill>
                <a:srgbClr val="FF0066"/>
              </a:solidFill>
              <a:latin typeface="Arial" panose="020B0604020202020204" pitchFamily="34" charset="0"/>
              <a:cs typeface="Arial" panose="020B0604020202020204" pitchFamily="34" charset="0"/>
            </a:endParaRP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16</a:t>
            </a:fld>
            <a:endParaRPr lang="en-IN"/>
          </a:p>
        </p:txBody>
      </p:sp>
      <p:pic>
        <p:nvPicPr>
          <p:cNvPr id="6145" name="Picture 1"/>
          <p:cNvPicPr>
            <a:picLocks noChangeAspect="1" noChangeArrowheads="1"/>
          </p:cNvPicPr>
          <p:nvPr/>
        </p:nvPicPr>
        <p:blipFill>
          <a:blip r:embed="rId2" cstate="print"/>
          <a:srcRect/>
          <a:stretch>
            <a:fillRect/>
          </a:stretch>
        </p:blipFill>
        <p:spPr bwMode="auto">
          <a:xfrm>
            <a:off x="741146" y="1135781"/>
            <a:ext cx="5063868" cy="3714700"/>
          </a:xfrm>
          <a:prstGeom prst="rect">
            <a:avLst/>
          </a:prstGeom>
          <a:noFill/>
          <a:ln w="9525">
            <a:noFill/>
            <a:miter lim="800000"/>
            <a:headEnd/>
            <a:tailEnd/>
          </a:ln>
          <a:effectLst/>
        </p:spPr>
      </p:pic>
      <p:pic>
        <p:nvPicPr>
          <p:cNvPr id="6146" name="Picture 2"/>
          <p:cNvPicPr>
            <a:picLocks noChangeAspect="1" noChangeArrowheads="1"/>
          </p:cNvPicPr>
          <p:nvPr/>
        </p:nvPicPr>
        <p:blipFill>
          <a:blip r:embed="rId3" cstate="print"/>
          <a:srcRect/>
          <a:stretch>
            <a:fillRect/>
          </a:stretch>
        </p:blipFill>
        <p:spPr bwMode="auto">
          <a:xfrm>
            <a:off x="6707574" y="1097280"/>
            <a:ext cx="4938994" cy="3676851"/>
          </a:xfrm>
          <a:prstGeom prst="rect">
            <a:avLst/>
          </a:prstGeom>
          <a:noFill/>
          <a:ln w="9525">
            <a:noFill/>
            <a:miter lim="800000"/>
            <a:headEnd/>
            <a:tailEnd/>
          </a:ln>
          <a:effectLst/>
        </p:spPr>
      </p:pic>
      <p:sp>
        <p:nvSpPr>
          <p:cNvPr id="7" name="TextBox 6"/>
          <p:cNvSpPr txBox="1"/>
          <p:nvPr/>
        </p:nvSpPr>
        <p:spPr>
          <a:xfrm>
            <a:off x="721895" y="5216893"/>
            <a:ext cx="10135402" cy="369332"/>
          </a:xfrm>
          <a:prstGeom prst="rect">
            <a:avLst/>
          </a:prstGeom>
          <a:noFill/>
        </p:spPr>
        <p:txBody>
          <a:bodyPr wrap="square" rtlCol="0">
            <a:spAutoFit/>
          </a:bodyPr>
          <a:lstStyle/>
          <a:p>
            <a:r>
              <a:rPr lang="en-GB" dirty="0" smtClean="0"/>
              <a:t>TREE MAP (</a:t>
            </a:r>
            <a:r>
              <a:rPr lang="en-US" dirty="0" smtClean="0"/>
              <a:t>AREA DISTRIBUTION)</a:t>
            </a:r>
            <a:r>
              <a:rPr lang="en-GB" dirty="0" smtClean="0"/>
              <a:t>                                                         SCATTER PLOT (</a:t>
            </a:r>
            <a:r>
              <a:rPr lang="en-US" dirty="0" smtClean="0"/>
              <a:t>AREA VS PRICE)</a:t>
            </a:r>
            <a:endParaRPr lang="en-US" dirty="0"/>
          </a:p>
        </p:txBody>
      </p:sp>
      <p:sp>
        <p:nvSpPr>
          <p:cNvPr id="8" name="Rectangle 7"/>
          <p:cNvSpPr/>
          <p:nvPr/>
        </p:nvSpPr>
        <p:spPr>
          <a:xfrm>
            <a:off x="746129" y="289378"/>
            <a:ext cx="4065600" cy="461665"/>
          </a:xfrm>
          <a:prstGeom prst="rect">
            <a:avLst/>
          </a:prstGeom>
        </p:spPr>
        <p:txBody>
          <a:bodyPr wrap="none">
            <a:spAutoFit/>
          </a:bodyPr>
          <a:lstStyle/>
          <a:p>
            <a:r>
              <a:rPr lang="en-US" sz="2400" b="1" dirty="0" smtClean="0">
                <a:solidFill>
                  <a:srgbClr val="FF0066"/>
                </a:solidFill>
                <a:latin typeface="Arial" panose="020B0604020202020204" pitchFamily="34" charset="0"/>
                <a:cs typeface="Arial" panose="020B0604020202020204" pitchFamily="34" charset="0"/>
              </a:rPr>
              <a:t>EXPERIMENTAL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17</a:t>
            </a:fld>
            <a:endParaRPr lang="en-IN"/>
          </a:p>
        </p:txBody>
      </p:sp>
      <p:pic>
        <p:nvPicPr>
          <p:cNvPr id="5121" name="Picture 1"/>
          <p:cNvPicPr>
            <a:picLocks noChangeAspect="1" noChangeArrowheads="1"/>
          </p:cNvPicPr>
          <p:nvPr/>
        </p:nvPicPr>
        <p:blipFill>
          <a:blip r:embed="rId2"/>
          <a:srcRect/>
          <a:stretch>
            <a:fillRect/>
          </a:stretch>
        </p:blipFill>
        <p:spPr bwMode="auto">
          <a:xfrm>
            <a:off x="1164657" y="1370013"/>
            <a:ext cx="4552749" cy="4121150"/>
          </a:xfrm>
          <a:prstGeom prst="rect">
            <a:avLst/>
          </a:prstGeom>
          <a:noFill/>
          <a:ln w="9525">
            <a:noFill/>
            <a:miter lim="800000"/>
            <a:headEnd/>
            <a:tailEnd/>
          </a:ln>
          <a:effectLst/>
        </p:spPr>
      </p:pic>
      <p:pic>
        <p:nvPicPr>
          <p:cNvPr id="4" name="Picture 2"/>
          <p:cNvPicPr>
            <a:picLocks noChangeAspect="1" noChangeArrowheads="1"/>
          </p:cNvPicPr>
          <p:nvPr/>
        </p:nvPicPr>
        <p:blipFill>
          <a:blip r:embed="rId3"/>
          <a:srcRect/>
          <a:stretch>
            <a:fillRect/>
          </a:stretch>
        </p:blipFill>
        <p:spPr bwMode="auto">
          <a:xfrm>
            <a:off x="6708808" y="1790297"/>
            <a:ext cx="3873517" cy="2567289"/>
          </a:xfrm>
          <a:prstGeom prst="rect">
            <a:avLst/>
          </a:prstGeom>
          <a:noFill/>
          <a:ln w="9525">
            <a:noFill/>
            <a:miter lim="800000"/>
            <a:headEnd/>
            <a:tailEnd/>
          </a:ln>
          <a:effectLst/>
        </p:spPr>
      </p:pic>
      <p:sp>
        <p:nvSpPr>
          <p:cNvPr id="7" name="TextBox 6"/>
          <p:cNvSpPr txBox="1"/>
          <p:nvPr/>
        </p:nvSpPr>
        <p:spPr>
          <a:xfrm>
            <a:off x="1357161" y="5361272"/>
            <a:ext cx="10096901" cy="369332"/>
          </a:xfrm>
          <a:prstGeom prst="rect">
            <a:avLst/>
          </a:prstGeom>
          <a:noFill/>
        </p:spPr>
        <p:txBody>
          <a:bodyPr wrap="square" rtlCol="0">
            <a:spAutoFit/>
          </a:bodyPr>
          <a:lstStyle/>
          <a:p>
            <a:r>
              <a:rPr lang="en-GB" dirty="0" smtClean="0"/>
              <a:t>BOX PLOT (</a:t>
            </a:r>
            <a:r>
              <a:rPr lang="en-US" dirty="0" smtClean="0"/>
              <a:t>PRICE BY BATHROOMS)</a:t>
            </a:r>
            <a:r>
              <a:rPr lang="en-GB" dirty="0" smtClean="0"/>
              <a:t>                                          BAR CHART (BEDROOMS FOR FIRST 10 HOUSES)</a:t>
            </a:r>
            <a:endParaRPr lang="en-US" dirty="0"/>
          </a:p>
        </p:txBody>
      </p:sp>
      <p:sp>
        <p:nvSpPr>
          <p:cNvPr id="8" name="Rectangle 7"/>
          <p:cNvSpPr/>
          <p:nvPr/>
        </p:nvSpPr>
        <p:spPr>
          <a:xfrm>
            <a:off x="784630" y="597386"/>
            <a:ext cx="4065600" cy="461665"/>
          </a:xfrm>
          <a:prstGeom prst="rect">
            <a:avLst/>
          </a:prstGeom>
        </p:spPr>
        <p:txBody>
          <a:bodyPr wrap="none">
            <a:spAutoFit/>
          </a:bodyPr>
          <a:lstStyle/>
          <a:p>
            <a:r>
              <a:rPr lang="en-US" sz="2400" b="1" dirty="0" smtClean="0">
                <a:solidFill>
                  <a:srgbClr val="FF0066"/>
                </a:solidFill>
                <a:latin typeface="Arial" panose="020B0604020202020204" pitchFamily="34" charset="0"/>
                <a:cs typeface="Arial" panose="020B0604020202020204" pitchFamily="34" charset="0"/>
              </a:rPr>
              <a:t>EXPERIMENTAL RESULTS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18</a:t>
            </a:fld>
            <a:endParaRPr lang="en-IN"/>
          </a:p>
        </p:txBody>
      </p:sp>
      <p:pic>
        <p:nvPicPr>
          <p:cNvPr id="4097" name="Picture 1"/>
          <p:cNvPicPr>
            <a:picLocks noChangeAspect="1" noChangeArrowheads="1"/>
          </p:cNvPicPr>
          <p:nvPr/>
        </p:nvPicPr>
        <p:blipFill>
          <a:blip r:embed="rId2" cstate="print"/>
          <a:srcRect/>
          <a:stretch>
            <a:fillRect/>
          </a:stretch>
        </p:blipFill>
        <p:spPr bwMode="auto">
          <a:xfrm>
            <a:off x="1164657" y="1222408"/>
            <a:ext cx="4504623" cy="3442620"/>
          </a:xfrm>
          <a:prstGeom prst="rect">
            <a:avLst/>
          </a:prstGeom>
          <a:noFill/>
          <a:ln w="9525">
            <a:noFill/>
            <a:miter lim="800000"/>
            <a:headEnd/>
            <a:tailEnd/>
          </a:ln>
          <a:effectLst/>
        </p:spPr>
      </p:pic>
      <p:pic>
        <p:nvPicPr>
          <p:cNvPr id="4098" name="Picture 2"/>
          <p:cNvPicPr>
            <a:picLocks noChangeAspect="1" noChangeArrowheads="1"/>
          </p:cNvPicPr>
          <p:nvPr/>
        </p:nvPicPr>
        <p:blipFill>
          <a:blip r:embed="rId3" cstate="print"/>
          <a:srcRect/>
          <a:stretch>
            <a:fillRect/>
          </a:stretch>
        </p:blipFill>
        <p:spPr bwMode="auto">
          <a:xfrm>
            <a:off x="6914585" y="1212783"/>
            <a:ext cx="4945323" cy="3455469"/>
          </a:xfrm>
          <a:prstGeom prst="rect">
            <a:avLst/>
          </a:prstGeom>
          <a:noFill/>
          <a:ln w="9525">
            <a:noFill/>
            <a:miter lim="800000"/>
            <a:headEnd/>
            <a:tailEnd/>
          </a:ln>
          <a:effectLst/>
        </p:spPr>
      </p:pic>
      <p:sp>
        <p:nvSpPr>
          <p:cNvPr id="7" name="TextBox 6"/>
          <p:cNvSpPr txBox="1"/>
          <p:nvPr/>
        </p:nvSpPr>
        <p:spPr>
          <a:xfrm>
            <a:off x="1116531" y="5207267"/>
            <a:ext cx="10645541" cy="369332"/>
          </a:xfrm>
          <a:prstGeom prst="rect">
            <a:avLst/>
          </a:prstGeom>
          <a:noFill/>
        </p:spPr>
        <p:txBody>
          <a:bodyPr wrap="square" rtlCol="0">
            <a:spAutoFit/>
          </a:bodyPr>
          <a:lstStyle/>
          <a:p>
            <a:r>
              <a:rPr lang="en-GB" dirty="0" smtClean="0"/>
              <a:t>BUBBLE CHART  (</a:t>
            </a:r>
            <a:r>
              <a:rPr lang="en-US" dirty="0" smtClean="0"/>
              <a:t>PRICE VS HOUSE NUMBER)</a:t>
            </a:r>
            <a:r>
              <a:rPr lang="en-GB" dirty="0" smtClean="0"/>
              <a:t>                               LINE CHART (</a:t>
            </a:r>
            <a:r>
              <a:rPr lang="en-US" dirty="0" smtClean="0"/>
              <a:t>WAVE-LIKE LINE CHART)</a:t>
            </a:r>
            <a:endParaRPr lang="en-US" dirty="0"/>
          </a:p>
        </p:txBody>
      </p:sp>
      <p:sp>
        <p:nvSpPr>
          <p:cNvPr id="8" name="Rectangle 7"/>
          <p:cNvSpPr/>
          <p:nvPr/>
        </p:nvSpPr>
        <p:spPr>
          <a:xfrm>
            <a:off x="1121515" y="279753"/>
            <a:ext cx="4065600" cy="461665"/>
          </a:xfrm>
          <a:prstGeom prst="rect">
            <a:avLst/>
          </a:prstGeom>
        </p:spPr>
        <p:txBody>
          <a:bodyPr wrap="none">
            <a:spAutoFit/>
          </a:bodyPr>
          <a:lstStyle/>
          <a:p>
            <a:r>
              <a:rPr lang="en-US" sz="2400" b="1" dirty="0" smtClean="0">
                <a:solidFill>
                  <a:srgbClr val="FF0066"/>
                </a:solidFill>
                <a:latin typeface="Arial" panose="020B0604020202020204" pitchFamily="34" charset="0"/>
                <a:cs typeface="Arial" panose="020B0604020202020204" pitchFamily="34" charset="0"/>
              </a:rPr>
              <a:t>EXPERIMENTAL RESULTS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IN" dirty="0" smtClean="0"/>
              <a:t>ITC1303 – DATA MINING TECHNIQUES</a:t>
            </a:r>
          </a:p>
          <a:p>
            <a:endParaRPr lang="en-IN" dirty="0"/>
          </a:p>
        </p:txBody>
      </p:sp>
      <p:sp>
        <p:nvSpPr>
          <p:cNvPr id="3" name="Slide Number Placeholder 2"/>
          <p:cNvSpPr>
            <a:spLocks noGrp="1"/>
          </p:cNvSpPr>
          <p:nvPr>
            <p:ph type="sldNum" sz="quarter" idx="12"/>
          </p:nvPr>
        </p:nvSpPr>
        <p:spPr/>
        <p:txBody>
          <a:bodyPr/>
          <a:lstStyle/>
          <a:p>
            <a:fld id="{D0CD2EA7-D846-4DD1-862F-6C9076468EAA}" type="slidenum">
              <a:rPr lang="en-IN" smtClean="0"/>
              <a:pPr/>
              <a:t>19</a:t>
            </a:fld>
            <a:endParaRPr lang="en-IN"/>
          </a:p>
        </p:txBody>
      </p:sp>
      <p:pic>
        <p:nvPicPr>
          <p:cNvPr id="3073" name="Picture 1"/>
          <p:cNvPicPr>
            <a:picLocks noChangeAspect="1" noChangeArrowheads="1"/>
          </p:cNvPicPr>
          <p:nvPr/>
        </p:nvPicPr>
        <p:blipFill>
          <a:blip r:embed="rId2"/>
          <a:srcRect/>
          <a:stretch>
            <a:fillRect/>
          </a:stretch>
        </p:blipFill>
        <p:spPr bwMode="auto">
          <a:xfrm>
            <a:off x="1380741" y="1322087"/>
            <a:ext cx="4721676" cy="3413542"/>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7172744" y="1576255"/>
            <a:ext cx="3721100" cy="3073400"/>
          </a:xfrm>
          <a:prstGeom prst="rect">
            <a:avLst/>
          </a:prstGeom>
          <a:noFill/>
          <a:ln w="9525">
            <a:noFill/>
            <a:miter lim="800000"/>
            <a:headEnd/>
            <a:tailEnd/>
          </a:ln>
          <a:effectLst/>
        </p:spPr>
      </p:pic>
      <p:sp>
        <p:nvSpPr>
          <p:cNvPr id="9" name="TextBox 8"/>
          <p:cNvSpPr txBox="1"/>
          <p:nvPr/>
        </p:nvSpPr>
        <p:spPr>
          <a:xfrm>
            <a:off x="693018" y="4774131"/>
            <a:ext cx="10905423" cy="369332"/>
          </a:xfrm>
          <a:prstGeom prst="rect">
            <a:avLst/>
          </a:prstGeom>
          <a:noFill/>
        </p:spPr>
        <p:txBody>
          <a:bodyPr wrap="square" rtlCol="0">
            <a:spAutoFit/>
          </a:bodyPr>
          <a:lstStyle/>
          <a:p>
            <a:r>
              <a:rPr lang="en-GB" dirty="0" smtClean="0"/>
              <a:t>             VIOLIN PLOT(</a:t>
            </a:r>
            <a:r>
              <a:rPr lang="en-US" dirty="0" smtClean="0"/>
              <a:t>PRICE BY BEDROOMS</a:t>
            </a:r>
            <a:r>
              <a:rPr lang="en-GB" dirty="0" smtClean="0"/>
              <a:t> )                                                                SUNBURST CHART</a:t>
            </a:r>
            <a:endParaRPr lang="en-US" dirty="0"/>
          </a:p>
        </p:txBody>
      </p:sp>
      <p:sp>
        <p:nvSpPr>
          <p:cNvPr id="7" name="Rectangle 6"/>
          <p:cNvSpPr/>
          <p:nvPr/>
        </p:nvSpPr>
        <p:spPr>
          <a:xfrm>
            <a:off x="986760" y="250877"/>
            <a:ext cx="4490396" cy="830997"/>
          </a:xfrm>
          <a:prstGeom prst="rect">
            <a:avLst/>
          </a:prstGeom>
        </p:spPr>
        <p:txBody>
          <a:bodyPr wrap="none">
            <a:spAutoFit/>
          </a:bodyPr>
          <a:lstStyle/>
          <a:p>
            <a:endParaRPr lang="en-US" sz="2400" b="1" dirty="0" smtClean="0">
              <a:solidFill>
                <a:srgbClr val="FF0066"/>
              </a:solidFill>
              <a:latin typeface="Arial" panose="020B0604020202020204" pitchFamily="34" charset="0"/>
              <a:cs typeface="Arial" panose="020B0604020202020204" pitchFamily="34" charset="0"/>
            </a:endParaRPr>
          </a:p>
          <a:p>
            <a:r>
              <a:rPr lang="en-US" sz="2400" b="1" dirty="0" smtClean="0">
                <a:solidFill>
                  <a:srgbClr val="FF0066"/>
                </a:solidFill>
                <a:latin typeface="Arial" panose="020B0604020202020204" pitchFamily="34" charset="0"/>
                <a:cs typeface="Arial" panose="020B0604020202020204" pitchFamily="34" charset="0"/>
              </a:rPr>
              <a:t>     EXPERIMENTAL 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0066"/>
                </a:solidFill>
                <a:latin typeface="Arial" panose="020B0604020202020204" pitchFamily="34" charset="0"/>
                <a:cs typeface="Arial" panose="020B0604020202020204" pitchFamily="34" charset="0"/>
              </a:rPr>
              <a:t>CONCLUSION AND FUTURE ENHANCEMENT </a:t>
            </a:r>
            <a:r>
              <a:rPr lang="en-US" sz="2800" dirty="0" smtClean="0"/>
              <a:t/>
            </a:r>
            <a:br>
              <a:rPr lang="en-US" sz="2800" dirty="0" smtClean="0"/>
            </a:br>
            <a:endParaRPr lang="en-IN" sz="2800" b="1" dirty="0"/>
          </a:p>
        </p:txBody>
      </p:sp>
      <p:sp>
        <p:nvSpPr>
          <p:cNvPr id="3" name="Content Placeholder 2"/>
          <p:cNvSpPr>
            <a:spLocks noGrp="1"/>
          </p:cNvSpPr>
          <p:nvPr>
            <p:ph idx="1"/>
          </p:nvPr>
        </p:nvSpPr>
        <p:spPr/>
        <p:txBody>
          <a:bodyPr>
            <a:normAutofit/>
          </a:bodyPr>
          <a:lstStyle/>
          <a:p>
            <a:pPr algn="just">
              <a:lnSpc>
                <a:spcPct val="100000"/>
              </a:lnSpc>
              <a:buNone/>
            </a:pPr>
            <a:r>
              <a:rPr lang="en-GB" sz="2400" dirty="0" smtClean="0"/>
              <a:t>        </a:t>
            </a:r>
            <a:r>
              <a:rPr lang="en-GB" sz="2400" dirty="0" smtClean="0">
                <a:latin typeface="Times New Roman" pitchFamily="18" charset="0"/>
                <a:cs typeface="Times New Roman" pitchFamily="18" charset="0"/>
              </a:rPr>
              <a:t>Here is a simple and clear Conclusion for the </a:t>
            </a:r>
            <a:r>
              <a:rPr lang="en-GB" sz="2400" dirty="0" err="1" smtClean="0">
                <a:latin typeface="Times New Roman" pitchFamily="18" charset="0"/>
                <a:cs typeface="Times New Roman" pitchFamily="18" charset="0"/>
              </a:rPr>
              <a:t>project,The</a:t>
            </a:r>
            <a:r>
              <a:rPr lang="en-GB" sz="2400" dirty="0" smtClean="0">
                <a:latin typeface="Times New Roman" pitchFamily="18" charset="0"/>
                <a:cs typeface="Times New Roman" pitchFamily="18" charset="0"/>
              </a:rPr>
              <a:t> House Price ,Analysis and Prediction project successfully demonstrates how data mining and machine learning techniques can be used to understand the factors that influence housing prices and to accurately predict future property values. By analyzing real-world datasets, the project provides meaningful insights into market trends, price variations, and relationships between different housing features.</a:t>
            </a:r>
          </a:p>
          <a:p>
            <a:pPr algn="just">
              <a:lnSpc>
                <a:spcPct val="100000"/>
              </a:lnSpc>
              <a:buNone/>
            </a:pP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IN" dirty="0" smtClean="0"/>
              <a:t>ITC1303 – DATA MINING TECHNIQUES</a:t>
            </a:r>
            <a:endParaRPr lang="en-IN" dirty="0"/>
          </a:p>
        </p:txBody>
      </p:sp>
      <p:sp>
        <p:nvSpPr>
          <p:cNvPr id="5" name="Slide Number Placeholder 4"/>
          <p:cNvSpPr>
            <a:spLocks noGrp="1"/>
          </p:cNvSpPr>
          <p:nvPr>
            <p:ph type="sldNum" sz="quarter" idx="12"/>
          </p:nvPr>
        </p:nvSpPr>
        <p:spPr/>
        <p:txBody>
          <a:bodyPr/>
          <a:lstStyle/>
          <a:p>
            <a:fld id="{D0CD2EA7-D846-4DD1-862F-6C9076468EAA}" type="slidenum">
              <a:rPr lang="en-IN" smtClean="0"/>
              <a:pPr/>
              <a:t>20</a:t>
            </a:fld>
            <a:endParaRPr lang="en-IN"/>
          </a:p>
        </p:txBody>
      </p:sp>
    </p:spTree>
    <p:extLst>
      <p:ext uri="{BB962C8B-B14F-4D97-AF65-F5344CB8AC3E}">
        <p14:creationId xmlns="" xmlns:p14="http://schemas.microsoft.com/office/powerpoint/2010/main" val="1986912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0066"/>
                </a:solidFill>
                <a:latin typeface="Arial"/>
                <a:cs typeface="Arial"/>
                <a:sym typeface="Arial"/>
              </a:rPr>
              <a:t>REFERENCES</a:t>
            </a:r>
            <a:endParaRPr lang="en-IN" sz="2800" b="1" dirty="0"/>
          </a:p>
        </p:txBody>
      </p:sp>
      <p:sp>
        <p:nvSpPr>
          <p:cNvPr id="3" name="Content Placeholder 2"/>
          <p:cNvSpPr>
            <a:spLocks noGrp="1"/>
          </p:cNvSpPr>
          <p:nvPr>
            <p:ph idx="1"/>
          </p:nvPr>
        </p:nvSpPr>
        <p:spPr/>
        <p:txBody>
          <a:bodyPr/>
          <a:lstStyle/>
          <a:p>
            <a:pPr>
              <a:lnSpc>
                <a:spcPct val="100000"/>
              </a:lnSpc>
            </a:pPr>
            <a:r>
              <a:rPr lang="en-US" sz="2400" dirty="0" smtClean="0">
                <a:latin typeface="Times New Roman" pitchFamily="18" charset="0"/>
                <a:cs typeface="Times New Roman" pitchFamily="18" charset="0"/>
              </a:rPr>
              <a:t>Han, J., Pei, J., &amp; </a:t>
            </a:r>
            <a:r>
              <a:rPr lang="en-US" sz="2400" dirty="0" err="1" smtClean="0">
                <a:latin typeface="Times New Roman" pitchFamily="18" charset="0"/>
                <a:cs typeface="Times New Roman" pitchFamily="18" charset="0"/>
              </a:rPr>
              <a:t>Kamber</a:t>
            </a:r>
            <a:r>
              <a:rPr lang="en-US" sz="2400" dirty="0" smtClean="0">
                <a:latin typeface="Times New Roman" pitchFamily="18" charset="0"/>
                <a:cs typeface="Times New Roman" pitchFamily="18" charset="0"/>
              </a:rPr>
              <a:t>, M. (2011). </a:t>
            </a:r>
            <a:r>
              <a:rPr lang="en-US" sz="2400" i="1" dirty="0" smtClean="0">
                <a:latin typeface="Times New Roman" pitchFamily="18" charset="0"/>
                <a:cs typeface="Times New Roman" pitchFamily="18" charset="0"/>
              </a:rPr>
              <a:t>Data Mining: Concepts and Techniques</a:t>
            </a:r>
            <a:r>
              <a:rPr lang="en-US" sz="2400" dirty="0" smtClean="0">
                <a:latin typeface="Times New Roman" pitchFamily="18" charset="0"/>
                <a:cs typeface="Times New Roman" pitchFamily="18" charset="0"/>
              </a:rPr>
              <a:t>. Elsevier.</a:t>
            </a:r>
          </a:p>
          <a:p>
            <a:pPr>
              <a:lnSpc>
                <a:spcPct val="100000"/>
              </a:lnSpc>
            </a:pPr>
            <a:r>
              <a:rPr lang="en-US" sz="2400" dirty="0" err="1" smtClean="0">
                <a:latin typeface="Times New Roman" pitchFamily="18" charset="0"/>
                <a:cs typeface="Times New Roman" pitchFamily="18" charset="0"/>
              </a:rPr>
              <a:t>Goodfellow</a:t>
            </a:r>
            <a:r>
              <a:rPr lang="en-US" sz="2400" dirty="0" smtClean="0">
                <a:latin typeface="Times New Roman" pitchFamily="18" charset="0"/>
                <a:cs typeface="Times New Roman" pitchFamily="18" charset="0"/>
              </a:rPr>
              <a:t>, I., </a:t>
            </a:r>
            <a:r>
              <a:rPr lang="en-US" sz="2400" dirty="0" err="1" smtClean="0">
                <a:latin typeface="Times New Roman" pitchFamily="18" charset="0"/>
                <a:cs typeface="Times New Roman" pitchFamily="18" charset="0"/>
              </a:rPr>
              <a:t>Bengio</a:t>
            </a:r>
            <a:r>
              <a:rPr lang="en-US" sz="2400" dirty="0" smtClean="0">
                <a:latin typeface="Times New Roman" pitchFamily="18" charset="0"/>
                <a:cs typeface="Times New Roman" pitchFamily="18" charset="0"/>
              </a:rPr>
              <a:t>, Y., &amp; </a:t>
            </a:r>
            <a:r>
              <a:rPr lang="en-US" sz="2400" dirty="0" err="1" smtClean="0">
                <a:latin typeface="Times New Roman" pitchFamily="18" charset="0"/>
                <a:cs typeface="Times New Roman" pitchFamily="18" charset="0"/>
              </a:rPr>
              <a:t>Courville</a:t>
            </a:r>
            <a:r>
              <a:rPr lang="en-US" sz="2400" dirty="0" smtClean="0">
                <a:latin typeface="Times New Roman" pitchFamily="18" charset="0"/>
                <a:cs typeface="Times New Roman" pitchFamily="18" charset="0"/>
              </a:rPr>
              <a:t>, A. (2016). </a:t>
            </a:r>
            <a:r>
              <a:rPr lang="en-US" sz="2400" i="1" dirty="0" smtClean="0">
                <a:latin typeface="Times New Roman" pitchFamily="18" charset="0"/>
                <a:cs typeface="Times New Roman" pitchFamily="18" charset="0"/>
              </a:rPr>
              <a:t>Deep Learning</a:t>
            </a:r>
            <a:r>
              <a:rPr lang="en-US" sz="2400" dirty="0" smtClean="0">
                <a:latin typeface="Times New Roman" pitchFamily="18" charset="0"/>
                <a:cs typeface="Times New Roman" pitchFamily="18" charset="0"/>
              </a:rPr>
              <a:t>. MIT Press.</a:t>
            </a:r>
          </a:p>
          <a:p>
            <a:pPr>
              <a:lnSpc>
                <a:spcPct val="100000"/>
              </a:lnSpc>
            </a:pPr>
            <a:r>
              <a:rPr lang="en-US" sz="2400" dirty="0" smtClean="0">
                <a:latin typeface="Times New Roman" pitchFamily="18" charset="0"/>
                <a:cs typeface="Times New Roman" pitchFamily="18" charset="0"/>
              </a:rPr>
              <a:t>UCI Machine Learning Repository – https://archive.ics.uci.edu</a:t>
            </a:r>
          </a:p>
          <a:p>
            <a:pPr>
              <a:lnSpc>
                <a:spcPct val="100000"/>
              </a:lnSpc>
            </a:pPr>
            <a:r>
              <a:rPr lang="en-US" sz="2400" dirty="0" err="1" smtClean="0">
                <a:latin typeface="Times New Roman" pitchFamily="18" charset="0"/>
                <a:cs typeface="Times New Roman" pitchFamily="18" charset="0"/>
              </a:rPr>
              <a:t>Kaggle</a:t>
            </a:r>
            <a:r>
              <a:rPr lang="en-US" sz="2400" dirty="0" smtClean="0">
                <a:latin typeface="Times New Roman" pitchFamily="18" charset="0"/>
                <a:cs typeface="Times New Roman" pitchFamily="18" charset="0"/>
              </a:rPr>
              <a:t> Datasets – </a:t>
            </a:r>
            <a:r>
              <a:rPr lang="en-US" sz="2400" dirty="0" smtClean="0">
                <a:latin typeface="Times New Roman" pitchFamily="18" charset="0"/>
                <a:cs typeface="Times New Roman" pitchFamily="18" charset="0"/>
                <a:hlinkClick r:id="rId2"/>
              </a:rPr>
              <a:t>https://www.kaggle.com/datasets</a:t>
            </a:r>
            <a:endParaRPr lang="en-US" sz="2400" dirty="0" smtClean="0">
              <a:latin typeface="Times New Roman" pitchFamily="18" charset="0"/>
              <a:cs typeface="Times New Roman" pitchFamily="18" charset="0"/>
            </a:endParaRPr>
          </a:p>
          <a:p>
            <a:pPr>
              <a:lnSpc>
                <a:spcPct val="100000"/>
              </a:lnSpc>
            </a:pPr>
            <a:r>
              <a:rPr lang="en-US" sz="2400" dirty="0" smtClean="0">
                <a:latin typeface="Times New Roman" pitchFamily="18" charset="0"/>
                <a:cs typeface="Times New Roman" pitchFamily="18" charset="0"/>
              </a:rPr>
              <a:t>Official Documentation of Python, </a:t>
            </a:r>
            <a:r>
              <a:rPr lang="en-US" sz="2400" dirty="0" err="1" smtClean="0">
                <a:latin typeface="Times New Roman" pitchFamily="18" charset="0"/>
                <a:cs typeface="Times New Roman" pitchFamily="18" charset="0"/>
              </a:rPr>
              <a:t>TensorFlow</a:t>
            </a:r>
            <a:r>
              <a:rPr lang="en-US" sz="2400" dirty="0" smtClean="0">
                <a:latin typeface="Times New Roman" pitchFamily="18" charset="0"/>
                <a:cs typeface="Times New Roman" pitchFamily="18" charset="0"/>
              </a:rPr>
              <a:t>, and </a:t>
            </a:r>
            <a:r>
              <a:rPr lang="en-US" sz="2400" dirty="0" err="1" smtClean="0">
                <a:latin typeface="Times New Roman" pitchFamily="18" charset="0"/>
                <a:cs typeface="Times New Roman" pitchFamily="18" charset="0"/>
              </a:rPr>
              <a:t>MySQL</a:t>
            </a:r>
            <a:r>
              <a:rPr lang="en-US" sz="2400" dirty="0" smtClean="0">
                <a:latin typeface="Times New Roman" pitchFamily="18" charset="0"/>
                <a:cs typeface="Times New Roman" pitchFamily="18" charset="0"/>
              </a:rPr>
              <a:t>.</a:t>
            </a:r>
          </a:p>
          <a:p>
            <a:pPr>
              <a:buNone/>
            </a:pPr>
            <a:endParaRPr lang="en-IN" dirty="0">
              <a:latin typeface="Times New Roman" pitchFamily="18" charset="0"/>
              <a:cs typeface="Times New Roman" pitchFamily="18" charset="0"/>
            </a:endParaRPr>
          </a:p>
        </p:txBody>
      </p:sp>
      <p:sp>
        <p:nvSpPr>
          <p:cNvPr id="4" name="Footer Placeholder 3"/>
          <p:cNvSpPr>
            <a:spLocks noGrp="1"/>
          </p:cNvSpPr>
          <p:nvPr>
            <p:ph type="ftr" sz="quarter" idx="11"/>
          </p:nvPr>
        </p:nvSpPr>
        <p:spPr>
          <a:ln>
            <a:solidFill>
              <a:schemeClr val="accent1"/>
            </a:solidFill>
          </a:ln>
        </p:spPr>
        <p:txBody>
          <a:bodyPr/>
          <a:lstStyle/>
          <a:p>
            <a:r>
              <a:rPr lang="en-IN" dirty="0" smtClean="0"/>
              <a:t>ITC1303 – DATA MINING TECHNIQUES</a:t>
            </a:r>
            <a:endParaRPr lang="en-IN" dirty="0">
              <a:solidFill>
                <a:schemeClr val="tx1">
                  <a:lumMod val="85000"/>
                  <a:lumOff val="15000"/>
                </a:schemeClr>
              </a:solidFill>
            </a:endParaRPr>
          </a:p>
        </p:txBody>
      </p:sp>
      <p:sp>
        <p:nvSpPr>
          <p:cNvPr id="5" name="Slide Number Placeholder 4"/>
          <p:cNvSpPr>
            <a:spLocks noGrp="1"/>
          </p:cNvSpPr>
          <p:nvPr>
            <p:ph type="sldNum" sz="quarter" idx="12"/>
          </p:nvPr>
        </p:nvSpPr>
        <p:spPr/>
        <p:txBody>
          <a:bodyPr/>
          <a:lstStyle/>
          <a:p>
            <a:fld id="{D0CD2EA7-D846-4DD1-862F-6C9076468EAA}" type="slidenum">
              <a:rPr lang="en-IN" smtClean="0"/>
              <a:pPr/>
              <a:t>21</a:t>
            </a:fld>
            <a:endParaRPr lang="en-IN"/>
          </a:p>
        </p:txBody>
      </p:sp>
    </p:spTree>
    <p:extLst>
      <p:ext uri="{BB962C8B-B14F-4D97-AF65-F5344CB8AC3E}">
        <p14:creationId xmlns="" xmlns:p14="http://schemas.microsoft.com/office/powerpoint/2010/main" val="28052403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TotalTime>
  <Words>1062</Words>
  <Application>Microsoft Office PowerPoint</Application>
  <PresentationFormat>Custom</PresentationFormat>
  <Paragraphs>174</Paragraphs>
  <Slides>21</Slides>
  <Notes>2</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Slide 1</vt:lpstr>
      <vt:lpstr>OBJECTIVE</vt:lpstr>
      <vt:lpstr>AGENDA</vt:lpstr>
      <vt:lpstr>INTRODUCTION</vt:lpstr>
      <vt:lpstr>Slide 5</vt:lpstr>
      <vt:lpstr>Slide 6</vt:lpstr>
      <vt:lpstr>Slide 7</vt:lpstr>
      <vt:lpstr>Slide 8</vt:lpstr>
      <vt:lpstr>Slide 9</vt:lpstr>
      <vt:lpstr>Slide 10</vt:lpstr>
      <vt:lpstr>         PROPOSED ARCHITECTURE      </vt:lpstr>
      <vt:lpstr>MODULES INVOLVED</vt:lpstr>
      <vt:lpstr>    EXPERIMENTAL RESULTS   </vt:lpstr>
      <vt:lpstr>Slide 14</vt:lpstr>
      <vt:lpstr>Slide 15</vt:lpstr>
      <vt:lpstr>Slide 16</vt:lpstr>
      <vt:lpstr>Slide 17</vt:lpstr>
      <vt:lpstr>Slide 18</vt:lpstr>
      <vt:lpstr>Slide 19</vt:lpstr>
      <vt:lpstr>CONCLUSION AND FUTURE ENHANCEMENT  </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Windows</cp:lastModifiedBy>
  <cp:revision>82</cp:revision>
  <dcterms:created xsi:type="dcterms:W3CDTF">2025-09-09T05:14:19Z</dcterms:created>
  <dcterms:modified xsi:type="dcterms:W3CDTF">2025-12-14T09:06:59Z</dcterms:modified>
</cp:coreProperties>
</file>